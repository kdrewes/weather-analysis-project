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1"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60"/>
    <p:restoredTop sz="94658"/>
  </p:normalViewPr>
  <p:slideViewPr>
    <p:cSldViewPr snapToGrid="0">
      <p:cViewPr varScale="1">
        <p:scale>
          <a:sx n="98" d="100"/>
          <a:sy n="98" d="100"/>
        </p:scale>
        <p:origin x="224" y="6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A877C-2BD7-4379-71F9-5BD20DC04B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5051B2-C84E-ED06-36BA-491BDEE0F4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AFBF31-AC08-52CD-BF40-3D705EA736BD}"/>
              </a:ext>
            </a:extLst>
          </p:cNvPr>
          <p:cNvSpPr>
            <a:spLocks noGrp="1"/>
          </p:cNvSpPr>
          <p:nvPr>
            <p:ph type="dt" sz="half" idx="10"/>
          </p:nvPr>
        </p:nvSpPr>
        <p:spPr/>
        <p:txBody>
          <a:bodyPr/>
          <a:lstStyle/>
          <a:p>
            <a:fld id="{F13668CF-2E7A-6240-A960-32F6D772A300}" type="datetimeFigureOut">
              <a:rPr lang="en-US" smtClean="0"/>
              <a:t>7/10/26</a:t>
            </a:fld>
            <a:endParaRPr lang="en-US"/>
          </a:p>
        </p:txBody>
      </p:sp>
      <p:sp>
        <p:nvSpPr>
          <p:cNvPr id="5" name="Footer Placeholder 4">
            <a:extLst>
              <a:ext uri="{FF2B5EF4-FFF2-40B4-BE49-F238E27FC236}">
                <a16:creationId xmlns:a16="http://schemas.microsoft.com/office/drawing/2014/main" id="{607CF822-E25D-8E4F-EB9E-C17D50636C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9DD812-FE48-C909-5DC8-B3A676A106B7}"/>
              </a:ext>
            </a:extLst>
          </p:cNvPr>
          <p:cNvSpPr>
            <a:spLocks noGrp="1"/>
          </p:cNvSpPr>
          <p:nvPr>
            <p:ph type="sldNum" sz="quarter" idx="12"/>
          </p:nvPr>
        </p:nvSpPr>
        <p:spPr/>
        <p:txBody>
          <a:bodyPr/>
          <a:lstStyle/>
          <a:p>
            <a:fld id="{924DC723-CD67-D849-9829-B36A767BE171}" type="slidenum">
              <a:rPr lang="en-US" smtClean="0"/>
              <a:t>‹#›</a:t>
            </a:fld>
            <a:endParaRPr lang="en-US"/>
          </a:p>
        </p:txBody>
      </p:sp>
    </p:spTree>
    <p:extLst>
      <p:ext uri="{BB962C8B-B14F-4D97-AF65-F5344CB8AC3E}">
        <p14:creationId xmlns:p14="http://schemas.microsoft.com/office/powerpoint/2010/main" val="747092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63B5B-F54C-24BE-A952-978E6A0D3A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AE283C-4C84-333E-939B-9B2F4071EC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4DFE51-5B52-CB16-C1A2-FEE9D23E9ABE}"/>
              </a:ext>
            </a:extLst>
          </p:cNvPr>
          <p:cNvSpPr>
            <a:spLocks noGrp="1"/>
          </p:cNvSpPr>
          <p:nvPr>
            <p:ph type="dt" sz="half" idx="10"/>
          </p:nvPr>
        </p:nvSpPr>
        <p:spPr/>
        <p:txBody>
          <a:bodyPr/>
          <a:lstStyle/>
          <a:p>
            <a:fld id="{F13668CF-2E7A-6240-A960-32F6D772A300}" type="datetimeFigureOut">
              <a:rPr lang="en-US" smtClean="0"/>
              <a:t>7/10/26</a:t>
            </a:fld>
            <a:endParaRPr lang="en-US"/>
          </a:p>
        </p:txBody>
      </p:sp>
      <p:sp>
        <p:nvSpPr>
          <p:cNvPr id="5" name="Footer Placeholder 4">
            <a:extLst>
              <a:ext uri="{FF2B5EF4-FFF2-40B4-BE49-F238E27FC236}">
                <a16:creationId xmlns:a16="http://schemas.microsoft.com/office/drawing/2014/main" id="{19CE2E43-60FB-6AE3-D629-E146C905B0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B55961-55FF-063E-6AE0-A96D2A50C500}"/>
              </a:ext>
            </a:extLst>
          </p:cNvPr>
          <p:cNvSpPr>
            <a:spLocks noGrp="1"/>
          </p:cNvSpPr>
          <p:nvPr>
            <p:ph type="sldNum" sz="quarter" idx="12"/>
          </p:nvPr>
        </p:nvSpPr>
        <p:spPr/>
        <p:txBody>
          <a:bodyPr/>
          <a:lstStyle/>
          <a:p>
            <a:fld id="{924DC723-CD67-D849-9829-B36A767BE171}" type="slidenum">
              <a:rPr lang="en-US" smtClean="0"/>
              <a:t>‹#›</a:t>
            </a:fld>
            <a:endParaRPr lang="en-US"/>
          </a:p>
        </p:txBody>
      </p:sp>
    </p:spTree>
    <p:extLst>
      <p:ext uri="{BB962C8B-B14F-4D97-AF65-F5344CB8AC3E}">
        <p14:creationId xmlns:p14="http://schemas.microsoft.com/office/powerpoint/2010/main" val="2510588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82E98-B307-5D80-A318-BE844B16EE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6EE17E-8D6A-2582-0127-31F982921D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1A8F2C-4A9B-6B19-A3F6-E7FDEA667325}"/>
              </a:ext>
            </a:extLst>
          </p:cNvPr>
          <p:cNvSpPr>
            <a:spLocks noGrp="1"/>
          </p:cNvSpPr>
          <p:nvPr>
            <p:ph type="dt" sz="half" idx="10"/>
          </p:nvPr>
        </p:nvSpPr>
        <p:spPr/>
        <p:txBody>
          <a:bodyPr/>
          <a:lstStyle/>
          <a:p>
            <a:fld id="{F13668CF-2E7A-6240-A960-32F6D772A300}" type="datetimeFigureOut">
              <a:rPr lang="en-US" smtClean="0"/>
              <a:t>7/10/26</a:t>
            </a:fld>
            <a:endParaRPr lang="en-US"/>
          </a:p>
        </p:txBody>
      </p:sp>
      <p:sp>
        <p:nvSpPr>
          <p:cNvPr id="5" name="Footer Placeholder 4">
            <a:extLst>
              <a:ext uri="{FF2B5EF4-FFF2-40B4-BE49-F238E27FC236}">
                <a16:creationId xmlns:a16="http://schemas.microsoft.com/office/drawing/2014/main" id="{1B9D0F9D-9DBF-0356-1AA6-D812C9431F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7FADB6-3409-0C5F-5456-AEDD6BB8DE8E}"/>
              </a:ext>
            </a:extLst>
          </p:cNvPr>
          <p:cNvSpPr>
            <a:spLocks noGrp="1"/>
          </p:cNvSpPr>
          <p:nvPr>
            <p:ph type="sldNum" sz="quarter" idx="12"/>
          </p:nvPr>
        </p:nvSpPr>
        <p:spPr/>
        <p:txBody>
          <a:bodyPr/>
          <a:lstStyle/>
          <a:p>
            <a:fld id="{924DC723-CD67-D849-9829-B36A767BE171}" type="slidenum">
              <a:rPr lang="en-US" smtClean="0"/>
              <a:t>‹#›</a:t>
            </a:fld>
            <a:endParaRPr lang="en-US"/>
          </a:p>
        </p:txBody>
      </p:sp>
    </p:spTree>
    <p:extLst>
      <p:ext uri="{BB962C8B-B14F-4D97-AF65-F5344CB8AC3E}">
        <p14:creationId xmlns:p14="http://schemas.microsoft.com/office/powerpoint/2010/main" val="2523471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01B1E-7A58-2793-5968-D5B75966CC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F5F81A-84D5-719F-0419-78ADB49B8C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303724-B0C6-D2F9-F444-C12C944FC3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C28250-AD12-8A53-7450-9DF9E068E948}"/>
              </a:ext>
            </a:extLst>
          </p:cNvPr>
          <p:cNvSpPr>
            <a:spLocks noGrp="1"/>
          </p:cNvSpPr>
          <p:nvPr>
            <p:ph type="dt" sz="half" idx="10"/>
          </p:nvPr>
        </p:nvSpPr>
        <p:spPr/>
        <p:txBody>
          <a:bodyPr/>
          <a:lstStyle/>
          <a:p>
            <a:fld id="{F13668CF-2E7A-6240-A960-32F6D772A300}" type="datetimeFigureOut">
              <a:rPr lang="en-US" smtClean="0"/>
              <a:t>7/10/26</a:t>
            </a:fld>
            <a:endParaRPr lang="en-US"/>
          </a:p>
        </p:txBody>
      </p:sp>
      <p:sp>
        <p:nvSpPr>
          <p:cNvPr id="6" name="Footer Placeholder 5">
            <a:extLst>
              <a:ext uri="{FF2B5EF4-FFF2-40B4-BE49-F238E27FC236}">
                <a16:creationId xmlns:a16="http://schemas.microsoft.com/office/drawing/2014/main" id="{4BAB19F5-AF47-B83A-A3EB-1FC7DF444C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E40155-918A-BF2B-9EDC-C5C81ACAAE2C}"/>
              </a:ext>
            </a:extLst>
          </p:cNvPr>
          <p:cNvSpPr>
            <a:spLocks noGrp="1"/>
          </p:cNvSpPr>
          <p:nvPr>
            <p:ph type="sldNum" sz="quarter" idx="12"/>
          </p:nvPr>
        </p:nvSpPr>
        <p:spPr/>
        <p:txBody>
          <a:bodyPr/>
          <a:lstStyle/>
          <a:p>
            <a:fld id="{924DC723-CD67-D849-9829-B36A767BE171}" type="slidenum">
              <a:rPr lang="en-US" smtClean="0"/>
              <a:t>‹#›</a:t>
            </a:fld>
            <a:endParaRPr lang="en-US"/>
          </a:p>
        </p:txBody>
      </p:sp>
    </p:spTree>
    <p:extLst>
      <p:ext uri="{BB962C8B-B14F-4D97-AF65-F5344CB8AC3E}">
        <p14:creationId xmlns:p14="http://schemas.microsoft.com/office/powerpoint/2010/main" val="2989847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A7D04-E964-4798-2D75-A0FF9C5986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A72761-5133-070A-95CD-F08418356B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D9D61C-B1D8-D9E5-96E5-5A23CDE0E2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006C47-A45B-9F01-D0D2-9B7E05AE95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D72752-93A5-5894-0DBA-0CE5AB325F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0FBFFA-34BC-A309-80AC-414174A9B527}"/>
              </a:ext>
            </a:extLst>
          </p:cNvPr>
          <p:cNvSpPr>
            <a:spLocks noGrp="1"/>
          </p:cNvSpPr>
          <p:nvPr>
            <p:ph type="dt" sz="half" idx="10"/>
          </p:nvPr>
        </p:nvSpPr>
        <p:spPr/>
        <p:txBody>
          <a:bodyPr/>
          <a:lstStyle/>
          <a:p>
            <a:fld id="{F13668CF-2E7A-6240-A960-32F6D772A300}" type="datetimeFigureOut">
              <a:rPr lang="en-US" smtClean="0"/>
              <a:t>7/10/26</a:t>
            </a:fld>
            <a:endParaRPr lang="en-US"/>
          </a:p>
        </p:txBody>
      </p:sp>
      <p:sp>
        <p:nvSpPr>
          <p:cNvPr id="8" name="Footer Placeholder 7">
            <a:extLst>
              <a:ext uri="{FF2B5EF4-FFF2-40B4-BE49-F238E27FC236}">
                <a16:creationId xmlns:a16="http://schemas.microsoft.com/office/drawing/2014/main" id="{4533C6E2-CEF8-B4DB-B789-C31D5C0164E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9A4E36-E57A-6842-0058-C3B4BE9B0BE7}"/>
              </a:ext>
            </a:extLst>
          </p:cNvPr>
          <p:cNvSpPr>
            <a:spLocks noGrp="1"/>
          </p:cNvSpPr>
          <p:nvPr>
            <p:ph type="sldNum" sz="quarter" idx="12"/>
          </p:nvPr>
        </p:nvSpPr>
        <p:spPr/>
        <p:txBody>
          <a:bodyPr/>
          <a:lstStyle/>
          <a:p>
            <a:fld id="{924DC723-CD67-D849-9829-B36A767BE171}" type="slidenum">
              <a:rPr lang="en-US" smtClean="0"/>
              <a:t>‹#›</a:t>
            </a:fld>
            <a:endParaRPr lang="en-US"/>
          </a:p>
        </p:txBody>
      </p:sp>
    </p:spTree>
    <p:extLst>
      <p:ext uri="{BB962C8B-B14F-4D97-AF65-F5344CB8AC3E}">
        <p14:creationId xmlns:p14="http://schemas.microsoft.com/office/powerpoint/2010/main" val="3491286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F1312-E5CE-6D1D-9552-8EEBBFD055D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646ADE-24D8-05A5-6487-9E3298E97DF4}"/>
              </a:ext>
            </a:extLst>
          </p:cNvPr>
          <p:cNvSpPr>
            <a:spLocks noGrp="1"/>
          </p:cNvSpPr>
          <p:nvPr>
            <p:ph type="dt" sz="half" idx="10"/>
          </p:nvPr>
        </p:nvSpPr>
        <p:spPr/>
        <p:txBody>
          <a:bodyPr/>
          <a:lstStyle/>
          <a:p>
            <a:fld id="{F13668CF-2E7A-6240-A960-32F6D772A300}" type="datetimeFigureOut">
              <a:rPr lang="en-US" smtClean="0"/>
              <a:t>7/10/26</a:t>
            </a:fld>
            <a:endParaRPr lang="en-US"/>
          </a:p>
        </p:txBody>
      </p:sp>
      <p:sp>
        <p:nvSpPr>
          <p:cNvPr id="4" name="Footer Placeholder 3">
            <a:extLst>
              <a:ext uri="{FF2B5EF4-FFF2-40B4-BE49-F238E27FC236}">
                <a16:creationId xmlns:a16="http://schemas.microsoft.com/office/drawing/2014/main" id="{F67B3696-232B-B7B7-9B29-98E42FDE36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0FE96F-4DE2-05B8-3C04-F8E3CBEA8917}"/>
              </a:ext>
            </a:extLst>
          </p:cNvPr>
          <p:cNvSpPr>
            <a:spLocks noGrp="1"/>
          </p:cNvSpPr>
          <p:nvPr>
            <p:ph type="sldNum" sz="quarter" idx="12"/>
          </p:nvPr>
        </p:nvSpPr>
        <p:spPr/>
        <p:txBody>
          <a:bodyPr/>
          <a:lstStyle/>
          <a:p>
            <a:fld id="{924DC723-CD67-D849-9829-B36A767BE171}" type="slidenum">
              <a:rPr lang="en-US" smtClean="0"/>
              <a:t>‹#›</a:t>
            </a:fld>
            <a:endParaRPr lang="en-US"/>
          </a:p>
        </p:txBody>
      </p:sp>
    </p:spTree>
    <p:extLst>
      <p:ext uri="{BB962C8B-B14F-4D97-AF65-F5344CB8AC3E}">
        <p14:creationId xmlns:p14="http://schemas.microsoft.com/office/powerpoint/2010/main" val="78911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76BB97-1A6B-EC85-5CC4-F70D38A6BE0E}"/>
              </a:ext>
            </a:extLst>
          </p:cNvPr>
          <p:cNvSpPr>
            <a:spLocks noGrp="1"/>
          </p:cNvSpPr>
          <p:nvPr>
            <p:ph type="dt" sz="half" idx="10"/>
          </p:nvPr>
        </p:nvSpPr>
        <p:spPr/>
        <p:txBody>
          <a:bodyPr/>
          <a:lstStyle/>
          <a:p>
            <a:fld id="{F13668CF-2E7A-6240-A960-32F6D772A300}" type="datetimeFigureOut">
              <a:rPr lang="en-US" smtClean="0"/>
              <a:t>7/10/26</a:t>
            </a:fld>
            <a:endParaRPr lang="en-US"/>
          </a:p>
        </p:txBody>
      </p:sp>
      <p:sp>
        <p:nvSpPr>
          <p:cNvPr id="3" name="Footer Placeholder 2">
            <a:extLst>
              <a:ext uri="{FF2B5EF4-FFF2-40B4-BE49-F238E27FC236}">
                <a16:creationId xmlns:a16="http://schemas.microsoft.com/office/drawing/2014/main" id="{1A368016-8F00-1211-A247-CCE04845BC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E4DD8F-20CD-EED1-92E2-96865852A475}"/>
              </a:ext>
            </a:extLst>
          </p:cNvPr>
          <p:cNvSpPr>
            <a:spLocks noGrp="1"/>
          </p:cNvSpPr>
          <p:nvPr>
            <p:ph type="sldNum" sz="quarter" idx="12"/>
          </p:nvPr>
        </p:nvSpPr>
        <p:spPr/>
        <p:txBody>
          <a:bodyPr/>
          <a:lstStyle/>
          <a:p>
            <a:fld id="{924DC723-CD67-D849-9829-B36A767BE171}" type="slidenum">
              <a:rPr lang="en-US" smtClean="0"/>
              <a:t>‹#›</a:t>
            </a:fld>
            <a:endParaRPr lang="en-US"/>
          </a:p>
        </p:txBody>
      </p:sp>
    </p:spTree>
    <p:extLst>
      <p:ext uri="{BB962C8B-B14F-4D97-AF65-F5344CB8AC3E}">
        <p14:creationId xmlns:p14="http://schemas.microsoft.com/office/powerpoint/2010/main" val="2387943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D2E00-0195-65F5-92CC-B63780E13E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404C04B-A0F3-E7A6-796A-C30F8989E5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CCA000B-397C-7978-27FC-9FEC1EDFC0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61232A-97AA-17F5-04F2-9CD8F6A1BF7A}"/>
              </a:ext>
            </a:extLst>
          </p:cNvPr>
          <p:cNvSpPr>
            <a:spLocks noGrp="1"/>
          </p:cNvSpPr>
          <p:nvPr>
            <p:ph type="dt" sz="half" idx="10"/>
          </p:nvPr>
        </p:nvSpPr>
        <p:spPr/>
        <p:txBody>
          <a:bodyPr/>
          <a:lstStyle/>
          <a:p>
            <a:fld id="{F13668CF-2E7A-6240-A960-32F6D772A300}" type="datetimeFigureOut">
              <a:rPr lang="en-US" smtClean="0"/>
              <a:t>7/10/26</a:t>
            </a:fld>
            <a:endParaRPr lang="en-US"/>
          </a:p>
        </p:txBody>
      </p:sp>
      <p:sp>
        <p:nvSpPr>
          <p:cNvPr id="6" name="Footer Placeholder 5">
            <a:extLst>
              <a:ext uri="{FF2B5EF4-FFF2-40B4-BE49-F238E27FC236}">
                <a16:creationId xmlns:a16="http://schemas.microsoft.com/office/drawing/2014/main" id="{D0A502DD-8643-0EE3-7C2C-7540933BB7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350817-38F3-9561-C083-19EC65B7125B}"/>
              </a:ext>
            </a:extLst>
          </p:cNvPr>
          <p:cNvSpPr>
            <a:spLocks noGrp="1"/>
          </p:cNvSpPr>
          <p:nvPr>
            <p:ph type="sldNum" sz="quarter" idx="12"/>
          </p:nvPr>
        </p:nvSpPr>
        <p:spPr/>
        <p:txBody>
          <a:bodyPr/>
          <a:lstStyle/>
          <a:p>
            <a:fld id="{924DC723-CD67-D849-9829-B36A767BE171}" type="slidenum">
              <a:rPr lang="en-US" smtClean="0"/>
              <a:t>‹#›</a:t>
            </a:fld>
            <a:endParaRPr lang="en-US"/>
          </a:p>
        </p:txBody>
      </p:sp>
    </p:spTree>
    <p:extLst>
      <p:ext uri="{BB962C8B-B14F-4D97-AF65-F5344CB8AC3E}">
        <p14:creationId xmlns:p14="http://schemas.microsoft.com/office/powerpoint/2010/main" val="3951974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E9E60-E218-455F-E4AF-ACFDEF88A4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74E44B-8466-5A99-D030-820F105FD2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20757D6-80DB-ABF8-AE83-7ADB5BA13F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A641C8-3D75-4C5D-3E1B-62FC4CA7C7E3}"/>
              </a:ext>
            </a:extLst>
          </p:cNvPr>
          <p:cNvSpPr>
            <a:spLocks noGrp="1"/>
          </p:cNvSpPr>
          <p:nvPr>
            <p:ph type="dt" sz="half" idx="10"/>
          </p:nvPr>
        </p:nvSpPr>
        <p:spPr/>
        <p:txBody>
          <a:bodyPr/>
          <a:lstStyle/>
          <a:p>
            <a:fld id="{F13668CF-2E7A-6240-A960-32F6D772A300}" type="datetimeFigureOut">
              <a:rPr lang="en-US" smtClean="0"/>
              <a:t>7/10/26</a:t>
            </a:fld>
            <a:endParaRPr lang="en-US"/>
          </a:p>
        </p:txBody>
      </p:sp>
      <p:sp>
        <p:nvSpPr>
          <p:cNvPr id="6" name="Footer Placeholder 5">
            <a:extLst>
              <a:ext uri="{FF2B5EF4-FFF2-40B4-BE49-F238E27FC236}">
                <a16:creationId xmlns:a16="http://schemas.microsoft.com/office/drawing/2014/main" id="{A27FE2DE-57AC-2234-0516-4937B80FE2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3BF89D-8F49-2DC4-5CE9-E25C32072A93}"/>
              </a:ext>
            </a:extLst>
          </p:cNvPr>
          <p:cNvSpPr>
            <a:spLocks noGrp="1"/>
          </p:cNvSpPr>
          <p:nvPr>
            <p:ph type="sldNum" sz="quarter" idx="12"/>
          </p:nvPr>
        </p:nvSpPr>
        <p:spPr/>
        <p:txBody>
          <a:bodyPr/>
          <a:lstStyle/>
          <a:p>
            <a:fld id="{924DC723-CD67-D849-9829-B36A767BE171}" type="slidenum">
              <a:rPr lang="en-US" smtClean="0"/>
              <a:t>‹#›</a:t>
            </a:fld>
            <a:endParaRPr lang="en-US"/>
          </a:p>
        </p:txBody>
      </p:sp>
    </p:spTree>
    <p:extLst>
      <p:ext uri="{BB962C8B-B14F-4D97-AF65-F5344CB8AC3E}">
        <p14:creationId xmlns:p14="http://schemas.microsoft.com/office/powerpoint/2010/main" val="71462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B9F91-0BC7-7E25-7679-3EBB03F435E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EAF226-2ADB-5878-0C68-76D21100BF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B8AD56-5C9C-A61F-984B-B030E81B8AC4}"/>
              </a:ext>
            </a:extLst>
          </p:cNvPr>
          <p:cNvSpPr>
            <a:spLocks noGrp="1"/>
          </p:cNvSpPr>
          <p:nvPr>
            <p:ph type="dt" sz="half" idx="10"/>
          </p:nvPr>
        </p:nvSpPr>
        <p:spPr/>
        <p:txBody>
          <a:bodyPr/>
          <a:lstStyle/>
          <a:p>
            <a:fld id="{F13668CF-2E7A-6240-A960-32F6D772A300}" type="datetimeFigureOut">
              <a:rPr lang="en-US" smtClean="0"/>
              <a:t>7/10/26</a:t>
            </a:fld>
            <a:endParaRPr lang="en-US"/>
          </a:p>
        </p:txBody>
      </p:sp>
      <p:sp>
        <p:nvSpPr>
          <p:cNvPr id="5" name="Footer Placeholder 4">
            <a:extLst>
              <a:ext uri="{FF2B5EF4-FFF2-40B4-BE49-F238E27FC236}">
                <a16:creationId xmlns:a16="http://schemas.microsoft.com/office/drawing/2014/main" id="{540302E7-0677-5714-1919-875386A19C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2AE337-728D-7849-B18F-1B5095D24E9C}"/>
              </a:ext>
            </a:extLst>
          </p:cNvPr>
          <p:cNvSpPr>
            <a:spLocks noGrp="1"/>
          </p:cNvSpPr>
          <p:nvPr>
            <p:ph type="sldNum" sz="quarter" idx="12"/>
          </p:nvPr>
        </p:nvSpPr>
        <p:spPr/>
        <p:txBody>
          <a:bodyPr/>
          <a:lstStyle/>
          <a:p>
            <a:fld id="{924DC723-CD67-D849-9829-B36A767BE171}" type="slidenum">
              <a:rPr lang="en-US" smtClean="0"/>
              <a:t>‹#›</a:t>
            </a:fld>
            <a:endParaRPr lang="en-US"/>
          </a:p>
        </p:txBody>
      </p:sp>
    </p:spTree>
    <p:extLst>
      <p:ext uri="{BB962C8B-B14F-4D97-AF65-F5344CB8AC3E}">
        <p14:creationId xmlns:p14="http://schemas.microsoft.com/office/powerpoint/2010/main" val="921857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5FACEA-EBD0-3BD6-CB59-7F975F4792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76C917-CAC2-523C-CD78-514C7D9CDD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18FBD1-7B98-38ED-C7A3-DD082B736372}"/>
              </a:ext>
            </a:extLst>
          </p:cNvPr>
          <p:cNvSpPr>
            <a:spLocks noGrp="1"/>
          </p:cNvSpPr>
          <p:nvPr>
            <p:ph type="dt" sz="half" idx="10"/>
          </p:nvPr>
        </p:nvSpPr>
        <p:spPr/>
        <p:txBody>
          <a:bodyPr/>
          <a:lstStyle/>
          <a:p>
            <a:fld id="{F13668CF-2E7A-6240-A960-32F6D772A300}" type="datetimeFigureOut">
              <a:rPr lang="en-US" smtClean="0"/>
              <a:t>7/10/26</a:t>
            </a:fld>
            <a:endParaRPr lang="en-US"/>
          </a:p>
        </p:txBody>
      </p:sp>
      <p:sp>
        <p:nvSpPr>
          <p:cNvPr id="5" name="Footer Placeholder 4">
            <a:extLst>
              <a:ext uri="{FF2B5EF4-FFF2-40B4-BE49-F238E27FC236}">
                <a16:creationId xmlns:a16="http://schemas.microsoft.com/office/drawing/2014/main" id="{47587AB4-54DE-53EE-49C2-48823D33CC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C49E7E-2A54-3031-5F39-63E952573097}"/>
              </a:ext>
            </a:extLst>
          </p:cNvPr>
          <p:cNvSpPr>
            <a:spLocks noGrp="1"/>
          </p:cNvSpPr>
          <p:nvPr>
            <p:ph type="sldNum" sz="quarter" idx="12"/>
          </p:nvPr>
        </p:nvSpPr>
        <p:spPr/>
        <p:txBody>
          <a:bodyPr/>
          <a:lstStyle/>
          <a:p>
            <a:fld id="{924DC723-CD67-D849-9829-B36A767BE171}" type="slidenum">
              <a:rPr lang="en-US" smtClean="0"/>
              <a:t>‹#›</a:t>
            </a:fld>
            <a:endParaRPr lang="en-US"/>
          </a:p>
        </p:txBody>
      </p:sp>
    </p:spTree>
    <p:extLst>
      <p:ext uri="{BB962C8B-B14F-4D97-AF65-F5344CB8AC3E}">
        <p14:creationId xmlns:p14="http://schemas.microsoft.com/office/powerpoint/2010/main" val="2299401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E9999B-A1CE-B377-C28B-1D6350F200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470D54-C5C6-6451-585D-1FF688E2DE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F3418-3D2A-B503-1C98-0241BA6F0D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3668CF-2E7A-6240-A960-32F6D772A300}" type="datetimeFigureOut">
              <a:rPr lang="en-US" smtClean="0"/>
              <a:t>7/10/26</a:t>
            </a:fld>
            <a:endParaRPr lang="en-US"/>
          </a:p>
        </p:txBody>
      </p:sp>
      <p:sp>
        <p:nvSpPr>
          <p:cNvPr id="5" name="Footer Placeholder 4">
            <a:extLst>
              <a:ext uri="{FF2B5EF4-FFF2-40B4-BE49-F238E27FC236}">
                <a16:creationId xmlns:a16="http://schemas.microsoft.com/office/drawing/2014/main" id="{165B08FB-F817-8296-980B-6C2426D10A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F7D660A-BD43-D7E0-7531-04DEF1EA85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4DC723-CD67-D849-9829-B36A767BE171}" type="slidenum">
              <a:rPr lang="en-US" smtClean="0"/>
              <a:t>‹#›</a:t>
            </a:fld>
            <a:endParaRPr lang="en-US"/>
          </a:p>
        </p:txBody>
      </p:sp>
    </p:spTree>
    <p:extLst>
      <p:ext uri="{BB962C8B-B14F-4D97-AF65-F5344CB8AC3E}">
        <p14:creationId xmlns:p14="http://schemas.microsoft.com/office/powerpoint/2010/main" val="34493812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ADAB4DD-85A4-76DD-C3DB-521544FE82B9}"/>
              </a:ext>
            </a:extLst>
          </p:cNvPr>
          <p:cNvPicPr>
            <a:picLocks noChangeAspect="1"/>
          </p:cNvPicPr>
          <p:nvPr/>
        </p:nvPicPr>
        <p:blipFill>
          <a:blip r:embed="rId2"/>
          <a:stretch>
            <a:fillRect/>
          </a:stretch>
        </p:blipFill>
        <p:spPr>
          <a:xfrm>
            <a:off x="0" y="0"/>
            <a:ext cx="12989153" cy="12949186"/>
          </a:xfrm>
          <a:prstGeom prst="rect">
            <a:avLst/>
          </a:prstGeom>
        </p:spPr>
      </p:pic>
      <p:sp>
        <p:nvSpPr>
          <p:cNvPr id="2" name="Title 1">
            <a:extLst>
              <a:ext uri="{FF2B5EF4-FFF2-40B4-BE49-F238E27FC236}">
                <a16:creationId xmlns:a16="http://schemas.microsoft.com/office/drawing/2014/main" id="{441DCD9B-B92A-D904-C1A8-960102058197}"/>
              </a:ext>
            </a:extLst>
          </p:cNvPr>
          <p:cNvSpPr>
            <a:spLocks noGrp="1"/>
          </p:cNvSpPr>
          <p:nvPr>
            <p:ph type="ctrTitle"/>
          </p:nvPr>
        </p:nvSpPr>
        <p:spPr>
          <a:xfrm>
            <a:off x="3085874" y="3429000"/>
            <a:ext cx="7389628" cy="1411731"/>
          </a:xfrm>
        </p:spPr>
        <p:txBody>
          <a:bodyPr>
            <a:noAutofit/>
          </a:bodyPr>
          <a:lstStyle/>
          <a:p>
            <a:r>
              <a:rPr lang="en-US" sz="6600" dirty="0">
                <a:latin typeface="Avenir Book" panose="02000503020000020003" pitchFamily="2" charset="0"/>
                <a:ea typeface="Bodoni Ornaments" pitchFamily="2" charset="0"/>
                <a:cs typeface="Calibri" panose="020F0502020204030204" pitchFamily="34" charset="0"/>
              </a:rPr>
              <a:t>Weather Analytics Platform</a:t>
            </a:r>
          </a:p>
        </p:txBody>
      </p:sp>
      <p:sp>
        <p:nvSpPr>
          <p:cNvPr id="3" name="Subtitle 2">
            <a:extLst>
              <a:ext uri="{FF2B5EF4-FFF2-40B4-BE49-F238E27FC236}">
                <a16:creationId xmlns:a16="http://schemas.microsoft.com/office/drawing/2014/main" id="{2C3DEBC5-360D-EBF4-88C7-2BB5BA0F6EEC}"/>
              </a:ext>
            </a:extLst>
          </p:cNvPr>
          <p:cNvSpPr>
            <a:spLocks noGrp="1"/>
          </p:cNvSpPr>
          <p:nvPr>
            <p:ph type="subTitle" idx="1"/>
          </p:nvPr>
        </p:nvSpPr>
        <p:spPr>
          <a:xfrm>
            <a:off x="12518065" y="8780093"/>
            <a:ext cx="9144000" cy="1655762"/>
          </a:xfrm>
        </p:spPr>
        <p:txBody>
          <a:bodyPr/>
          <a:lstStyle/>
          <a:p>
            <a:endParaRPr lang="en-US" dirty="0"/>
          </a:p>
        </p:txBody>
      </p:sp>
    </p:spTree>
    <p:extLst>
      <p:ext uri="{BB962C8B-B14F-4D97-AF65-F5344CB8AC3E}">
        <p14:creationId xmlns:p14="http://schemas.microsoft.com/office/powerpoint/2010/main" val="227836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ADAB4DD-85A4-76DD-C3DB-521544FE82B9}"/>
              </a:ext>
            </a:extLst>
          </p:cNvPr>
          <p:cNvPicPr>
            <a:picLocks noChangeAspect="1"/>
          </p:cNvPicPr>
          <p:nvPr/>
        </p:nvPicPr>
        <p:blipFill>
          <a:blip r:embed="rId2"/>
          <a:stretch>
            <a:fillRect/>
          </a:stretch>
        </p:blipFill>
        <p:spPr>
          <a:xfrm>
            <a:off x="0" y="-107025"/>
            <a:ext cx="12192000" cy="12154485"/>
          </a:xfrm>
          <a:prstGeom prst="rect">
            <a:avLst/>
          </a:prstGeom>
        </p:spPr>
      </p:pic>
      <p:sp>
        <p:nvSpPr>
          <p:cNvPr id="2" name="Title 1">
            <a:extLst>
              <a:ext uri="{FF2B5EF4-FFF2-40B4-BE49-F238E27FC236}">
                <a16:creationId xmlns:a16="http://schemas.microsoft.com/office/drawing/2014/main" id="{441DCD9B-B92A-D904-C1A8-960102058197}"/>
              </a:ext>
            </a:extLst>
          </p:cNvPr>
          <p:cNvSpPr>
            <a:spLocks noGrp="1"/>
          </p:cNvSpPr>
          <p:nvPr>
            <p:ph type="ctrTitle"/>
          </p:nvPr>
        </p:nvSpPr>
        <p:spPr>
          <a:xfrm>
            <a:off x="12303309" y="7368362"/>
            <a:ext cx="7389628" cy="1411731"/>
          </a:xfrm>
        </p:spPr>
        <p:txBody>
          <a:bodyPr>
            <a:noAutofit/>
          </a:bodyPr>
          <a:lstStyle/>
          <a:p>
            <a:endParaRPr lang="en-US" sz="1200" dirty="0">
              <a:latin typeface="Calibri" panose="020F0502020204030204" pitchFamily="34" charset="0"/>
              <a:ea typeface="Bodoni Ornaments" pitchFamily="2" charset="0"/>
              <a:cs typeface="Calibri" panose="020F0502020204030204" pitchFamily="34" charset="0"/>
            </a:endParaRPr>
          </a:p>
        </p:txBody>
      </p:sp>
      <p:sp>
        <p:nvSpPr>
          <p:cNvPr id="3" name="Subtitle 2">
            <a:extLst>
              <a:ext uri="{FF2B5EF4-FFF2-40B4-BE49-F238E27FC236}">
                <a16:creationId xmlns:a16="http://schemas.microsoft.com/office/drawing/2014/main" id="{2C3DEBC5-360D-EBF4-88C7-2BB5BA0F6EEC}"/>
              </a:ext>
            </a:extLst>
          </p:cNvPr>
          <p:cNvSpPr>
            <a:spLocks noGrp="1"/>
          </p:cNvSpPr>
          <p:nvPr>
            <p:ph type="subTitle" idx="1"/>
          </p:nvPr>
        </p:nvSpPr>
        <p:spPr>
          <a:xfrm>
            <a:off x="12518065" y="8780093"/>
            <a:ext cx="9144000" cy="1655762"/>
          </a:xfrm>
        </p:spPr>
        <p:txBody>
          <a:bodyPr/>
          <a:lstStyle/>
          <a:p>
            <a:endParaRPr lang="en-US" dirty="0"/>
          </a:p>
        </p:txBody>
      </p:sp>
      <p:sp>
        <p:nvSpPr>
          <p:cNvPr id="8" name="TextBox 7">
            <a:extLst>
              <a:ext uri="{FF2B5EF4-FFF2-40B4-BE49-F238E27FC236}">
                <a16:creationId xmlns:a16="http://schemas.microsoft.com/office/drawing/2014/main" id="{55246AB4-916C-D75D-8E5B-FE32519BC0EC}"/>
              </a:ext>
            </a:extLst>
          </p:cNvPr>
          <p:cNvSpPr txBox="1"/>
          <p:nvPr/>
        </p:nvSpPr>
        <p:spPr>
          <a:xfrm>
            <a:off x="123570" y="-35672"/>
            <a:ext cx="1841156" cy="769441"/>
          </a:xfrm>
          <a:prstGeom prst="rect">
            <a:avLst/>
          </a:prstGeom>
          <a:noFill/>
          <a:ln>
            <a:noFill/>
          </a:ln>
        </p:spPr>
        <p:txBody>
          <a:bodyPr wrap="square">
            <a:spAutoFit/>
          </a:bodyPr>
          <a:lstStyle/>
          <a:p>
            <a:r>
              <a:rPr lang="en-US" sz="4400" dirty="0">
                <a:latin typeface="Calibri" panose="020F0502020204030204" pitchFamily="34" charset="0"/>
                <a:ea typeface="Bodoni Ornaments" pitchFamily="2" charset="0"/>
                <a:cs typeface="Calibri" panose="020F0502020204030204" pitchFamily="34" charset="0"/>
              </a:rPr>
              <a:t>About</a:t>
            </a:r>
            <a:endParaRPr lang="en-US" sz="4400" dirty="0"/>
          </a:p>
        </p:txBody>
      </p:sp>
      <p:sp>
        <p:nvSpPr>
          <p:cNvPr id="10" name="TextBox 9">
            <a:extLst>
              <a:ext uri="{FF2B5EF4-FFF2-40B4-BE49-F238E27FC236}">
                <a16:creationId xmlns:a16="http://schemas.microsoft.com/office/drawing/2014/main" id="{0BF1E2F2-5093-FF78-761B-DBAAA9CFE844}"/>
              </a:ext>
            </a:extLst>
          </p:cNvPr>
          <p:cNvSpPr txBox="1"/>
          <p:nvPr/>
        </p:nvSpPr>
        <p:spPr>
          <a:xfrm>
            <a:off x="123570" y="665917"/>
            <a:ext cx="11763630" cy="1246495"/>
          </a:xfrm>
          <a:prstGeom prst="rect">
            <a:avLst/>
          </a:prstGeom>
          <a:noFill/>
          <a:ln>
            <a:noFill/>
          </a:ln>
        </p:spPr>
        <p:txBody>
          <a:bodyPr wrap="square">
            <a:spAutoFit/>
          </a:bodyPr>
          <a:lstStyle/>
          <a:p>
            <a:r>
              <a:rPr lang="en-US" sz="1500" dirty="0">
                <a:latin typeface="Avenir Book" panose="02000503020000020003" pitchFamily="2" charset="0"/>
              </a:rPr>
              <a:t>Weather Analysis Platform is an application that analyzes the temperatures of Berkeley, Oakland and San Francisco.  It operates by importing weather data from an opensource weather service: Open Mateo API weather.  Raw data is stored in JSON format located in Data/Raw directory.  From there, the raw is imported to data frame to conduct data wrangling operation.  During this phase, data wrangling operations include removal of duplicates, filling null values, eliminating negative values, and addressing data inconsistencies (example: min &gt; max).  From there, the data is loaded into a Postgres database, allowing user to execute queries for analytical purposes.</a:t>
            </a:r>
          </a:p>
        </p:txBody>
      </p:sp>
      <p:pic>
        <p:nvPicPr>
          <p:cNvPr id="12" name="Picture 11">
            <a:extLst>
              <a:ext uri="{FF2B5EF4-FFF2-40B4-BE49-F238E27FC236}">
                <a16:creationId xmlns:a16="http://schemas.microsoft.com/office/drawing/2014/main" id="{DDE4B786-2230-D3DC-F15E-807859CD24AB}"/>
              </a:ext>
            </a:extLst>
          </p:cNvPr>
          <p:cNvPicPr>
            <a:picLocks noChangeAspect="1"/>
          </p:cNvPicPr>
          <p:nvPr/>
        </p:nvPicPr>
        <p:blipFill>
          <a:blip r:embed="rId3"/>
          <a:stretch>
            <a:fillRect/>
          </a:stretch>
        </p:blipFill>
        <p:spPr>
          <a:xfrm>
            <a:off x="282782" y="2064972"/>
            <a:ext cx="4187051" cy="4127114"/>
          </a:xfrm>
          <a:prstGeom prst="rect">
            <a:avLst/>
          </a:prstGeom>
        </p:spPr>
      </p:pic>
      <p:sp>
        <p:nvSpPr>
          <p:cNvPr id="13" name="TextBox 12">
            <a:extLst>
              <a:ext uri="{FF2B5EF4-FFF2-40B4-BE49-F238E27FC236}">
                <a16:creationId xmlns:a16="http://schemas.microsoft.com/office/drawing/2014/main" id="{5D5E9634-667B-66C3-0CE9-56AA0A35824E}"/>
              </a:ext>
            </a:extLst>
          </p:cNvPr>
          <p:cNvSpPr txBox="1"/>
          <p:nvPr/>
        </p:nvSpPr>
        <p:spPr>
          <a:xfrm>
            <a:off x="1264409" y="3163329"/>
            <a:ext cx="8423288" cy="338554"/>
          </a:xfrm>
          <a:prstGeom prst="rect">
            <a:avLst/>
          </a:prstGeom>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a:spAutoFit/>
          </a:bodyPr>
          <a:lstStyle/>
          <a:p>
            <a:endParaRPr lang="en-US" sz="1600" dirty="0"/>
          </a:p>
        </p:txBody>
      </p:sp>
      <p:pic>
        <p:nvPicPr>
          <p:cNvPr id="15" name="Picture 14">
            <a:extLst>
              <a:ext uri="{FF2B5EF4-FFF2-40B4-BE49-F238E27FC236}">
                <a16:creationId xmlns:a16="http://schemas.microsoft.com/office/drawing/2014/main" id="{A6329719-D474-3507-D73D-4F357D41AC2E}"/>
              </a:ext>
            </a:extLst>
          </p:cNvPr>
          <p:cNvPicPr>
            <a:picLocks noChangeAspect="1"/>
          </p:cNvPicPr>
          <p:nvPr/>
        </p:nvPicPr>
        <p:blipFill>
          <a:blip r:embed="rId4"/>
          <a:stretch>
            <a:fillRect/>
          </a:stretch>
        </p:blipFill>
        <p:spPr>
          <a:xfrm>
            <a:off x="4710218" y="2064969"/>
            <a:ext cx="6047766" cy="4127114"/>
          </a:xfrm>
          <a:prstGeom prst="rect">
            <a:avLst/>
          </a:prstGeom>
        </p:spPr>
      </p:pic>
      <p:sp>
        <p:nvSpPr>
          <p:cNvPr id="16" name="TextBox 15">
            <a:extLst>
              <a:ext uri="{FF2B5EF4-FFF2-40B4-BE49-F238E27FC236}">
                <a16:creationId xmlns:a16="http://schemas.microsoft.com/office/drawing/2014/main" id="{1C27F763-2D12-6D38-AE11-F0D271D821CA}"/>
              </a:ext>
            </a:extLst>
          </p:cNvPr>
          <p:cNvSpPr txBox="1"/>
          <p:nvPr/>
        </p:nvSpPr>
        <p:spPr>
          <a:xfrm>
            <a:off x="5322930" y="8004369"/>
            <a:ext cx="4586967" cy="338554"/>
          </a:xfrm>
          <a:prstGeom prst="rect">
            <a:avLst/>
          </a:prstGeom>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a:spAutoFit/>
          </a:bodyPr>
          <a:lstStyle/>
          <a:p>
            <a:endParaRPr lang="en-US" sz="1600" dirty="0"/>
          </a:p>
        </p:txBody>
      </p:sp>
      <p:sp>
        <p:nvSpPr>
          <p:cNvPr id="17" name="TextBox 16">
            <a:extLst>
              <a:ext uri="{FF2B5EF4-FFF2-40B4-BE49-F238E27FC236}">
                <a16:creationId xmlns:a16="http://schemas.microsoft.com/office/drawing/2014/main" id="{2339ED2D-B73C-0CA1-1C9C-6252B4500C5C}"/>
              </a:ext>
            </a:extLst>
          </p:cNvPr>
          <p:cNvSpPr txBox="1"/>
          <p:nvPr/>
        </p:nvSpPr>
        <p:spPr>
          <a:xfrm>
            <a:off x="258070" y="6239061"/>
            <a:ext cx="4586967" cy="276999"/>
          </a:xfrm>
          <a:prstGeom prst="rect">
            <a:avLst/>
          </a:prstGeom>
          <a:noFill/>
          <a:ln>
            <a:noFill/>
          </a:ln>
        </p:spPr>
        <p:txBody>
          <a:bodyPr wrap="square">
            <a:spAutoFit/>
          </a:bodyPr>
          <a:lstStyle/>
          <a:p>
            <a:r>
              <a:rPr lang="en-US" sz="1200" dirty="0"/>
              <a:t>Cities include: Berkeley, Oakland &amp; San Francisco</a:t>
            </a:r>
          </a:p>
        </p:txBody>
      </p:sp>
      <p:sp>
        <p:nvSpPr>
          <p:cNvPr id="18" name="TextBox 17">
            <a:extLst>
              <a:ext uri="{FF2B5EF4-FFF2-40B4-BE49-F238E27FC236}">
                <a16:creationId xmlns:a16="http://schemas.microsoft.com/office/drawing/2014/main" id="{FE6390A7-975E-2FCB-C4BD-F8F6BE7AE6D4}"/>
              </a:ext>
            </a:extLst>
          </p:cNvPr>
          <p:cNvSpPr txBox="1"/>
          <p:nvPr/>
        </p:nvSpPr>
        <p:spPr>
          <a:xfrm>
            <a:off x="4595181" y="6227755"/>
            <a:ext cx="6094714" cy="276999"/>
          </a:xfrm>
          <a:prstGeom prst="rect">
            <a:avLst/>
          </a:prstGeom>
          <a:noFill/>
          <a:ln>
            <a:noFill/>
          </a:ln>
        </p:spPr>
        <p:txBody>
          <a:bodyPr wrap="square">
            <a:spAutoFit/>
          </a:bodyPr>
          <a:lstStyle/>
          <a:p>
            <a:r>
              <a:rPr lang="en-US" sz="1200" dirty="0"/>
              <a:t>Produces query parameter (</a:t>
            </a:r>
            <a:r>
              <a:rPr lang="en-US" sz="1200" i="1" dirty="0"/>
              <a:t>params) </a:t>
            </a:r>
            <a:r>
              <a:rPr lang="en-US" sz="1200" dirty="0"/>
              <a:t>and then executes get request to retrieve raw data</a:t>
            </a:r>
          </a:p>
        </p:txBody>
      </p:sp>
    </p:spTree>
    <p:extLst>
      <p:ext uri="{BB962C8B-B14F-4D97-AF65-F5344CB8AC3E}">
        <p14:creationId xmlns:p14="http://schemas.microsoft.com/office/powerpoint/2010/main" val="3809291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ADAB4DD-85A4-76DD-C3DB-521544FE82B9}"/>
              </a:ext>
            </a:extLst>
          </p:cNvPr>
          <p:cNvPicPr>
            <a:picLocks noChangeAspect="1"/>
          </p:cNvPicPr>
          <p:nvPr/>
        </p:nvPicPr>
        <p:blipFill>
          <a:blip r:embed="rId2"/>
          <a:stretch>
            <a:fillRect/>
          </a:stretch>
        </p:blipFill>
        <p:spPr>
          <a:xfrm>
            <a:off x="0" y="0"/>
            <a:ext cx="12192000" cy="12154485"/>
          </a:xfrm>
          <a:prstGeom prst="rect">
            <a:avLst/>
          </a:prstGeom>
        </p:spPr>
      </p:pic>
      <p:sp>
        <p:nvSpPr>
          <p:cNvPr id="2" name="Title 1">
            <a:extLst>
              <a:ext uri="{FF2B5EF4-FFF2-40B4-BE49-F238E27FC236}">
                <a16:creationId xmlns:a16="http://schemas.microsoft.com/office/drawing/2014/main" id="{441DCD9B-B92A-D904-C1A8-960102058197}"/>
              </a:ext>
            </a:extLst>
          </p:cNvPr>
          <p:cNvSpPr>
            <a:spLocks noGrp="1"/>
          </p:cNvSpPr>
          <p:nvPr>
            <p:ph type="ctrTitle"/>
          </p:nvPr>
        </p:nvSpPr>
        <p:spPr>
          <a:xfrm>
            <a:off x="12303309" y="7368362"/>
            <a:ext cx="7389628" cy="1411731"/>
          </a:xfrm>
        </p:spPr>
        <p:txBody>
          <a:bodyPr>
            <a:noAutofit/>
          </a:bodyPr>
          <a:lstStyle/>
          <a:p>
            <a:endParaRPr lang="en-US" sz="1200" dirty="0">
              <a:latin typeface="Calibri" panose="020F0502020204030204" pitchFamily="34" charset="0"/>
              <a:ea typeface="Bodoni Ornaments" pitchFamily="2" charset="0"/>
              <a:cs typeface="Calibri" panose="020F0502020204030204" pitchFamily="34" charset="0"/>
            </a:endParaRPr>
          </a:p>
        </p:txBody>
      </p:sp>
      <p:sp>
        <p:nvSpPr>
          <p:cNvPr id="3" name="Subtitle 2">
            <a:extLst>
              <a:ext uri="{FF2B5EF4-FFF2-40B4-BE49-F238E27FC236}">
                <a16:creationId xmlns:a16="http://schemas.microsoft.com/office/drawing/2014/main" id="{2C3DEBC5-360D-EBF4-88C7-2BB5BA0F6EEC}"/>
              </a:ext>
            </a:extLst>
          </p:cNvPr>
          <p:cNvSpPr>
            <a:spLocks noGrp="1"/>
          </p:cNvSpPr>
          <p:nvPr>
            <p:ph type="subTitle" idx="1"/>
          </p:nvPr>
        </p:nvSpPr>
        <p:spPr>
          <a:xfrm>
            <a:off x="12518065" y="8780093"/>
            <a:ext cx="9144000" cy="1655762"/>
          </a:xfrm>
        </p:spPr>
        <p:txBody>
          <a:bodyPr/>
          <a:lstStyle/>
          <a:p>
            <a:endParaRPr lang="en-US" dirty="0"/>
          </a:p>
        </p:txBody>
      </p:sp>
      <p:sp>
        <p:nvSpPr>
          <p:cNvPr id="8" name="TextBox 7">
            <a:extLst>
              <a:ext uri="{FF2B5EF4-FFF2-40B4-BE49-F238E27FC236}">
                <a16:creationId xmlns:a16="http://schemas.microsoft.com/office/drawing/2014/main" id="{55246AB4-916C-D75D-8E5B-FE32519BC0EC}"/>
              </a:ext>
            </a:extLst>
          </p:cNvPr>
          <p:cNvSpPr txBox="1"/>
          <p:nvPr/>
        </p:nvSpPr>
        <p:spPr>
          <a:xfrm>
            <a:off x="123570" y="-35672"/>
            <a:ext cx="3212754" cy="769441"/>
          </a:xfrm>
          <a:prstGeom prst="rect">
            <a:avLst/>
          </a:prstGeom>
          <a:noFill/>
          <a:ln>
            <a:noFill/>
          </a:ln>
        </p:spPr>
        <p:txBody>
          <a:bodyPr wrap="square">
            <a:spAutoFit/>
          </a:bodyPr>
          <a:lstStyle/>
          <a:p>
            <a:r>
              <a:rPr lang="en-US" sz="4400" dirty="0">
                <a:latin typeface="Calibri" panose="020F0502020204030204" pitchFamily="34" charset="0"/>
                <a:ea typeface="Bodoni Ornaments" pitchFamily="2" charset="0"/>
                <a:cs typeface="Calibri" panose="020F0502020204030204" pitchFamily="34" charset="0"/>
              </a:rPr>
              <a:t>Codebase</a:t>
            </a:r>
            <a:endParaRPr lang="en-US" sz="4400" dirty="0"/>
          </a:p>
        </p:txBody>
      </p:sp>
      <p:sp>
        <p:nvSpPr>
          <p:cNvPr id="10" name="TextBox 9">
            <a:extLst>
              <a:ext uri="{FF2B5EF4-FFF2-40B4-BE49-F238E27FC236}">
                <a16:creationId xmlns:a16="http://schemas.microsoft.com/office/drawing/2014/main" id="{0BF1E2F2-5093-FF78-761B-DBAAA9CFE844}"/>
              </a:ext>
            </a:extLst>
          </p:cNvPr>
          <p:cNvSpPr txBox="1"/>
          <p:nvPr/>
        </p:nvSpPr>
        <p:spPr>
          <a:xfrm>
            <a:off x="123570" y="701870"/>
            <a:ext cx="11763630" cy="1015663"/>
          </a:xfrm>
          <a:prstGeom prst="rect">
            <a:avLst/>
          </a:prstGeom>
          <a:noFill/>
          <a:ln>
            <a:noFill/>
          </a:ln>
        </p:spPr>
        <p:txBody>
          <a:bodyPr wrap="square">
            <a:spAutoFit/>
          </a:bodyPr>
          <a:lstStyle/>
          <a:p>
            <a:r>
              <a:rPr lang="en-US" sz="1500" dirty="0">
                <a:latin typeface="Baloo 2" panose="03080502040302020200" pitchFamily="66" charset="77"/>
                <a:cs typeface="Baloo 2" panose="03080502040302020200" pitchFamily="66" charset="77"/>
              </a:rPr>
              <a:t>Weather Analysis Platform is an application that imports weather data from an opensource weather service: Open Mateo API weather.  Raw data is stored in JSON format located in /Raw directory.  From there, the raw is imported to data frame to conduct data wrangling operation.  During this phase, data wrangling operations include removal of duplicates, filling null values, eliminating negative values, and addressing data inconsistencies (example: min &gt; max).  From there, data is configured </a:t>
            </a:r>
          </a:p>
        </p:txBody>
      </p:sp>
      <p:sp>
        <p:nvSpPr>
          <p:cNvPr id="16" name="TextBox 15">
            <a:extLst>
              <a:ext uri="{FF2B5EF4-FFF2-40B4-BE49-F238E27FC236}">
                <a16:creationId xmlns:a16="http://schemas.microsoft.com/office/drawing/2014/main" id="{1C27F763-2D12-6D38-AE11-F0D271D821CA}"/>
              </a:ext>
            </a:extLst>
          </p:cNvPr>
          <p:cNvSpPr txBox="1"/>
          <p:nvPr/>
        </p:nvSpPr>
        <p:spPr>
          <a:xfrm>
            <a:off x="5322930" y="8004369"/>
            <a:ext cx="4586967" cy="338554"/>
          </a:xfrm>
          <a:prstGeom prst="rect">
            <a:avLst/>
          </a:prstGeom>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a:spAutoFit/>
          </a:bodyPr>
          <a:lstStyle/>
          <a:p>
            <a:endParaRPr lang="en-US" sz="1600" dirty="0"/>
          </a:p>
        </p:txBody>
      </p:sp>
      <p:graphicFrame>
        <p:nvGraphicFramePr>
          <p:cNvPr id="11" name="Table 10">
            <a:extLst>
              <a:ext uri="{FF2B5EF4-FFF2-40B4-BE49-F238E27FC236}">
                <a16:creationId xmlns:a16="http://schemas.microsoft.com/office/drawing/2014/main" id="{DCD09FDA-BB97-4DC5-43EE-30B1E23ADEDE}"/>
              </a:ext>
            </a:extLst>
          </p:cNvPr>
          <p:cNvGraphicFramePr>
            <a:graphicFrameLocks noGrp="1"/>
          </p:cNvGraphicFramePr>
          <p:nvPr>
            <p:extLst>
              <p:ext uri="{D42A27DB-BD31-4B8C-83A1-F6EECF244321}">
                <p14:modId xmlns:p14="http://schemas.microsoft.com/office/powerpoint/2010/main" val="1615813607"/>
              </p:ext>
            </p:extLst>
          </p:nvPr>
        </p:nvGraphicFramePr>
        <p:xfrm>
          <a:off x="2007446" y="2032298"/>
          <a:ext cx="7902451" cy="4396290"/>
        </p:xfrm>
        <a:graphic>
          <a:graphicData uri="http://schemas.openxmlformats.org/drawingml/2006/table">
            <a:tbl>
              <a:tblPr firstRow="1" bandRow="1">
                <a:tableStyleId>{5C22544A-7EE6-4342-B048-85BDC9FD1C3A}</a:tableStyleId>
              </a:tblPr>
              <a:tblGrid>
                <a:gridCol w="1613761">
                  <a:extLst>
                    <a:ext uri="{9D8B030D-6E8A-4147-A177-3AD203B41FA5}">
                      <a16:colId xmlns:a16="http://schemas.microsoft.com/office/drawing/2014/main" val="4044967074"/>
                    </a:ext>
                  </a:extLst>
                </a:gridCol>
                <a:gridCol w="6288690">
                  <a:extLst>
                    <a:ext uri="{9D8B030D-6E8A-4147-A177-3AD203B41FA5}">
                      <a16:colId xmlns:a16="http://schemas.microsoft.com/office/drawing/2014/main" val="2474240830"/>
                    </a:ext>
                  </a:extLst>
                </a:gridCol>
              </a:tblGrid>
              <a:tr h="251534">
                <a:tc>
                  <a:txBody>
                    <a:bodyPr/>
                    <a:lstStyle/>
                    <a:p>
                      <a:pPr algn="ctr"/>
                      <a:r>
                        <a:rPr lang="en-US" sz="1050" dirty="0">
                          <a:solidFill>
                            <a:schemeClr val="tx1"/>
                          </a:solidFill>
                          <a:latin typeface="Monaco" pitchFamily="2" charset="77"/>
                        </a:rPr>
                        <a:t>Files</a:t>
                      </a:r>
                    </a:p>
                  </a:txBody>
                  <a:tcPr>
                    <a:solidFill>
                      <a:schemeClr val="bg1">
                        <a:alpha val="41008"/>
                      </a:schemeClr>
                    </a:solidFill>
                  </a:tcPr>
                </a:tc>
                <a:tc>
                  <a:txBody>
                    <a:bodyPr/>
                    <a:lstStyle/>
                    <a:p>
                      <a:pPr algn="ctr"/>
                      <a:r>
                        <a:rPr lang="en-US" sz="1050" dirty="0">
                          <a:solidFill>
                            <a:schemeClr val="tx1"/>
                          </a:solidFill>
                          <a:latin typeface="Monaco" pitchFamily="2" charset="77"/>
                        </a:rPr>
                        <a:t>Description</a:t>
                      </a:r>
                    </a:p>
                  </a:txBody>
                  <a:tcPr>
                    <a:solidFill>
                      <a:schemeClr val="bg1">
                        <a:alpha val="41008"/>
                      </a:schemeClr>
                    </a:solidFill>
                  </a:tcPr>
                </a:tc>
                <a:extLst>
                  <a:ext uri="{0D108BD9-81ED-4DB2-BD59-A6C34878D82A}">
                    <a16:rowId xmlns:a16="http://schemas.microsoft.com/office/drawing/2014/main" val="3242976173"/>
                  </a:ext>
                </a:extLst>
              </a:tr>
              <a:tr h="503069">
                <a:tc>
                  <a:txBody>
                    <a:bodyPr/>
                    <a:lstStyle/>
                    <a:p>
                      <a:r>
                        <a:rPr lang="en-US" sz="1100" dirty="0" err="1">
                          <a:latin typeface="Avenir Book" panose="02000503020000020003" pitchFamily="2" charset="0"/>
                        </a:rPr>
                        <a:t>Ingest.py</a:t>
                      </a:r>
                      <a:endParaRPr lang="en-US" sz="1100" dirty="0">
                        <a:latin typeface="Avenir Book" panose="02000503020000020003" pitchFamily="2" charset="0"/>
                      </a:endParaRPr>
                    </a:p>
                  </a:txBody>
                  <a:tcPr>
                    <a:solidFill>
                      <a:schemeClr val="bg1">
                        <a:alpha val="53831"/>
                      </a:schemeClr>
                    </a:solidFill>
                  </a:tcPr>
                </a:tc>
                <a:tc>
                  <a:txBody>
                    <a:bodyPr/>
                    <a:lstStyle/>
                    <a:p>
                      <a:r>
                        <a:rPr lang="en-US" sz="1100" dirty="0">
                          <a:latin typeface="Avenir Book" panose="02000503020000020003" pitchFamily="2" charset="0"/>
                        </a:rPr>
                        <a:t>Calls Open-Mateo API for Berkely, Oakland and San Francisco.  Saves raw JSON to Data/Raw directory.</a:t>
                      </a:r>
                    </a:p>
                  </a:txBody>
                  <a:tcPr>
                    <a:solidFill>
                      <a:schemeClr val="bg1">
                        <a:alpha val="53918"/>
                      </a:schemeClr>
                    </a:solidFill>
                  </a:tcPr>
                </a:tc>
                <a:extLst>
                  <a:ext uri="{0D108BD9-81ED-4DB2-BD59-A6C34878D82A}">
                    <a16:rowId xmlns:a16="http://schemas.microsoft.com/office/drawing/2014/main" val="109138727"/>
                  </a:ext>
                </a:extLst>
              </a:tr>
              <a:tr h="8375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Avenir Book" panose="02000503020000020003" pitchFamily="2" charset="0"/>
                        </a:rPr>
                        <a:t>Clean.py</a:t>
                      </a:r>
                      <a:endParaRPr lang="en-US" sz="1100" dirty="0">
                        <a:latin typeface="Avenir Book" panose="02000503020000020003" pitchFamily="2" charset="0"/>
                      </a:endParaRPr>
                    </a:p>
                  </a:txBody>
                  <a:tcPr>
                    <a:solidFill>
                      <a:schemeClr val="bg1">
                        <a:alpha val="53831"/>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venir Book" panose="02000503020000020003" pitchFamily="2" charset="0"/>
                        </a:rPr>
                        <a:t>Raw Json data is transferred to data frames.  Executes data wrangling operation on data frame for the purpose of revising data.  From there, cleaned data is exported to Data/Processed/</a:t>
                      </a:r>
                      <a:r>
                        <a:rPr lang="en-US" sz="1100" dirty="0" err="1">
                          <a:latin typeface="Avenir Book" panose="02000503020000020003" pitchFamily="2" charset="0"/>
                        </a:rPr>
                        <a:t>weather.csv</a:t>
                      </a:r>
                      <a:endParaRPr lang="en-US" sz="1100" dirty="0">
                        <a:latin typeface="Avenir Book" panose="02000503020000020003" pitchFamily="2" charset="0"/>
                      </a:endParaRPr>
                    </a:p>
                  </a:txBody>
                  <a:tcPr>
                    <a:solidFill>
                      <a:schemeClr val="bg1">
                        <a:alpha val="53918"/>
                      </a:schemeClr>
                    </a:solidFill>
                  </a:tcPr>
                </a:tc>
                <a:extLst>
                  <a:ext uri="{0D108BD9-81ED-4DB2-BD59-A6C34878D82A}">
                    <a16:rowId xmlns:a16="http://schemas.microsoft.com/office/drawing/2014/main" val="2789227809"/>
                  </a:ext>
                </a:extLst>
              </a:tr>
              <a:tr h="3563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Avenir Book" panose="02000503020000020003" pitchFamily="2" charset="0"/>
                        </a:rPr>
                        <a:t>Database.py</a:t>
                      </a:r>
                      <a:endParaRPr lang="en-US" sz="1100" dirty="0">
                        <a:latin typeface="Avenir Book" panose="02000503020000020003" pitchFamily="2" charset="0"/>
                      </a:endParaRPr>
                    </a:p>
                  </a:txBody>
                  <a:tcPr>
                    <a:solidFill>
                      <a:schemeClr val="bg1">
                        <a:alpha val="53831"/>
                      </a:schemeClr>
                    </a:solidFill>
                  </a:tcPr>
                </a:tc>
                <a:tc>
                  <a:txBody>
                    <a:bodyPr/>
                    <a:lstStyle/>
                    <a:p>
                      <a:r>
                        <a:rPr lang="en-US" sz="1100" dirty="0">
                          <a:latin typeface="Avenir Book" panose="02000503020000020003" pitchFamily="2" charset="0"/>
                        </a:rPr>
                        <a:t>Establishes DB configuration settings by calling </a:t>
                      </a:r>
                      <a:r>
                        <a:rPr lang="en-US" sz="1100" dirty="0" err="1">
                          <a:latin typeface="Avenir Book" panose="02000503020000020003" pitchFamily="2" charset="0"/>
                        </a:rPr>
                        <a:t>GetConnection</a:t>
                      </a:r>
                      <a:r>
                        <a:rPr lang="en-US" sz="1100" dirty="0">
                          <a:latin typeface="Avenir Book" panose="02000503020000020003" pitchFamily="2" charset="0"/>
                        </a:rPr>
                        <a:t>(), run schema through </a:t>
                      </a:r>
                      <a:r>
                        <a:rPr lang="en-US" sz="1100" dirty="0" err="1">
                          <a:latin typeface="Avenir Book" panose="02000503020000020003" pitchFamily="2" charset="0"/>
                        </a:rPr>
                        <a:t>schema.sql</a:t>
                      </a:r>
                      <a:r>
                        <a:rPr lang="en-US" sz="1100" dirty="0">
                          <a:latin typeface="Avenir Book" panose="02000503020000020003" pitchFamily="2" charset="0"/>
                        </a:rPr>
                        <a:t> and test connection to ensure application can </a:t>
                      </a:r>
                      <a:r>
                        <a:rPr lang="en-US" sz="1100" dirty="0" err="1">
                          <a:latin typeface="Avenir Book" panose="02000503020000020003" pitchFamily="2" charset="0"/>
                        </a:rPr>
                        <a:t>connecton</a:t>
                      </a:r>
                      <a:r>
                        <a:rPr lang="en-US" sz="1100" dirty="0">
                          <a:latin typeface="Avenir Book" panose="02000503020000020003" pitchFamily="2" charset="0"/>
                        </a:rPr>
                        <a:t> to </a:t>
                      </a:r>
                      <a:r>
                        <a:rPr lang="en-US" sz="1100" dirty="0" err="1">
                          <a:latin typeface="Avenir Book" panose="02000503020000020003" pitchFamily="2" charset="0"/>
                        </a:rPr>
                        <a:t>PostgreeSQL</a:t>
                      </a:r>
                      <a:endParaRPr lang="en-US" sz="1100" dirty="0">
                        <a:latin typeface="Avenir Book" panose="02000503020000020003" pitchFamily="2" charset="0"/>
                      </a:endParaRPr>
                    </a:p>
                  </a:txBody>
                  <a:tcPr>
                    <a:solidFill>
                      <a:schemeClr val="bg1">
                        <a:alpha val="53918"/>
                      </a:schemeClr>
                    </a:solidFill>
                  </a:tcPr>
                </a:tc>
                <a:extLst>
                  <a:ext uri="{0D108BD9-81ED-4DB2-BD59-A6C34878D82A}">
                    <a16:rowId xmlns:a16="http://schemas.microsoft.com/office/drawing/2014/main" val="498984886"/>
                  </a:ext>
                </a:extLst>
              </a:tr>
              <a:tr h="398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Avenir Book" panose="02000503020000020003" pitchFamily="2" charset="0"/>
                        </a:rPr>
                        <a:t>Dao.py</a:t>
                      </a:r>
                      <a:endParaRPr lang="en-US" sz="1100" dirty="0">
                        <a:latin typeface="Avenir Book" panose="02000503020000020003" pitchFamily="2" charset="0"/>
                      </a:endParaRPr>
                    </a:p>
                    <a:p>
                      <a:endParaRPr lang="en-US" sz="1100" dirty="0"/>
                    </a:p>
                  </a:txBody>
                  <a:tcPr>
                    <a:solidFill>
                      <a:schemeClr val="bg1">
                        <a:alpha val="53831"/>
                      </a:schemeClr>
                    </a:solidFill>
                  </a:tcPr>
                </a:tc>
                <a:tc>
                  <a:txBody>
                    <a:bodyPr/>
                    <a:lstStyle/>
                    <a:p>
                      <a:r>
                        <a:rPr lang="en-US" sz="1100" dirty="0">
                          <a:latin typeface="Avenir Book" panose="02000503020000020003" pitchFamily="2" charset="0"/>
                        </a:rPr>
                        <a:t>Exports </a:t>
                      </a:r>
                      <a:r>
                        <a:rPr lang="en-US" sz="1100" dirty="0" err="1">
                          <a:latin typeface="Avenir Book" panose="02000503020000020003" pitchFamily="2" charset="0"/>
                        </a:rPr>
                        <a:t>weather.csv</a:t>
                      </a:r>
                      <a:r>
                        <a:rPr lang="en-US" sz="1100" dirty="0">
                          <a:latin typeface="Avenir Book" panose="02000503020000020003" pitchFamily="2" charset="0"/>
                        </a:rPr>
                        <a:t> into Postgres and inserts data frame information into its corresponding tables</a:t>
                      </a:r>
                    </a:p>
                  </a:txBody>
                  <a:tcPr>
                    <a:solidFill>
                      <a:schemeClr val="bg1">
                        <a:alpha val="53918"/>
                      </a:schemeClr>
                    </a:solidFill>
                  </a:tcPr>
                </a:tc>
                <a:extLst>
                  <a:ext uri="{0D108BD9-81ED-4DB2-BD59-A6C34878D82A}">
                    <a16:rowId xmlns:a16="http://schemas.microsoft.com/office/drawing/2014/main" val="2712864909"/>
                  </a:ext>
                </a:extLst>
              </a:tr>
              <a:tr h="398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Avenir Book" panose="02000503020000020003" pitchFamily="2" charset="0"/>
                        </a:rPr>
                        <a:t>main.py</a:t>
                      </a:r>
                      <a:endParaRPr lang="en-US" sz="1100" dirty="0">
                        <a:latin typeface="Avenir Book" panose="02000503020000020003" pitchFamily="2" charset="0"/>
                      </a:endParaRPr>
                    </a:p>
                    <a:p>
                      <a:endParaRPr lang="en-US" sz="1100" dirty="0"/>
                    </a:p>
                  </a:txBody>
                  <a:tcPr>
                    <a:solidFill>
                      <a:schemeClr val="bg1">
                        <a:alpha val="53831"/>
                      </a:schemeClr>
                    </a:solidFill>
                  </a:tcPr>
                </a:tc>
                <a:tc>
                  <a:txBody>
                    <a:bodyPr/>
                    <a:lstStyle/>
                    <a:p>
                      <a:r>
                        <a:rPr lang="en-US" sz="1100" dirty="0">
                          <a:latin typeface="Avenir Book" panose="02000503020000020003" pitchFamily="2" charset="0"/>
                        </a:rPr>
                        <a:t>Calls schema file</a:t>
                      </a:r>
                    </a:p>
                  </a:txBody>
                  <a:tcPr>
                    <a:solidFill>
                      <a:schemeClr val="bg1">
                        <a:alpha val="53918"/>
                      </a:schemeClr>
                    </a:solidFill>
                  </a:tcPr>
                </a:tc>
                <a:extLst>
                  <a:ext uri="{0D108BD9-81ED-4DB2-BD59-A6C34878D82A}">
                    <a16:rowId xmlns:a16="http://schemas.microsoft.com/office/drawing/2014/main" val="192270745"/>
                  </a:ext>
                </a:extLst>
              </a:tr>
              <a:tr h="398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Avenir Book" panose="02000503020000020003" pitchFamily="2" charset="0"/>
                        </a:rPr>
                        <a:t>scehma.sql</a:t>
                      </a:r>
                      <a:endParaRPr lang="en-US" sz="1100" dirty="0">
                        <a:latin typeface="Avenir Book" panose="02000503020000020003" pitchFamily="2" charset="0"/>
                      </a:endParaRPr>
                    </a:p>
                    <a:p>
                      <a:endParaRPr lang="en-US" sz="1100" dirty="0"/>
                    </a:p>
                  </a:txBody>
                  <a:tcPr>
                    <a:solidFill>
                      <a:schemeClr val="bg1">
                        <a:alpha val="53831"/>
                      </a:schemeClr>
                    </a:solidFill>
                  </a:tcPr>
                </a:tc>
                <a:tc>
                  <a:txBody>
                    <a:bodyPr/>
                    <a:lstStyle/>
                    <a:p>
                      <a:r>
                        <a:rPr lang="en-US" sz="1100" dirty="0">
                          <a:latin typeface="Avenir Book" panose="02000503020000020003" pitchFamily="2" charset="0"/>
                        </a:rPr>
                        <a:t>Creates cities and weather table using DDL logic</a:t>
                      </a:r>
                    </a:p>
                  </a:txBody>
                  <a:tcPr>
                    <a:solidFill>
                      <a:schemeClr val="bg1">
                        <a:alpha val="53722"/>
                      </a:schemeClr>
                    </a:solidFill>
                  </a:tcPr>
                </a:tc>
                <a:extLst>
                  <a:ext uri="{0D108BD9-81ED-4DB2-BD59-A6C34878D82A}">
                    <a16:rowId xmlns:a16="http://schemas.microsoft.com/office/drawing/2014/main" val="3400053297"/>
                  </a:ext>
                </a:extLst>
              </a:tr>
              <a:tr h="398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Avenir Book" panose="02000503020000020003" pitchFamily="2" charset="0"/>
                        </a:rPr>
                        <a:t>queries.sql</a:t>
                      </a:r>
                      <a:endParaRPr lang="en-US" sz="1100" dirty="0">
                        <a:latin typeface="Avenir Book" panose="02000503020000020003" pitchFamily="2" charset="0"/>
                      </a:endParaRPr>
                    </a:p>
                    <a:p>
                      <a:endParaRPr lang="en-US" sz="1100" dirty="0"/>
                    </a:p>
                  </a:txBody>
                  <a:tcPr>
                    <a:solidFill>
                      <a:schemeClr val="bg1">
                        <a:alpha val="53922"/>
                      </a:schemeClr>
                    </a:solidFill>
                  </a:tcPr>
                </a:tc>
                <a:tc>
                  <a:txBody>
                    <a:bodyPr/>
                    <a:lstStyle/>
                    <a:p>
                      <a:r>
                        <a:rPr lang="en-US" sz="1100" dirty="0">
                          <a:latin typeface="Avenir Book" panose="02000503020000020003" pitchFamily="2" charset="0"/>
                        </a:rPr>
                        <a:t>Produces 5 queries:  </a:t>
                      </a:r>
                    </a:p>
                    <a:p>
                      <a:r>
                        <a:rPr lang="en-US" sz="1100" dirty="0">
                          <a:latin typeface="Avenir Book" panose="02000503020000020003" pitchFamily="2" charset="0"/>
                        </a:rPr>
                        <a:t>• Hottest day of year per city</a:t>
                      </a:r>
                    </a:p>
                    <a:p>
                      <a:r>
                        <a:rPr lang="en-US" sz="1100" dirty="0">
                          <a:latin typeface="Avenir Book" panose="02000503020000020003" pitchFamily="2" charset="0"/>
                        </a:rPr>
                        <a:t>• Average rainfall</a:t>
                      </a:r>
                    </a:p>
                    <a:p>
                      <a:r>
                        <a:rPr lang="en-US" sz="1100" dirty="0">
                          <a:latin typeface="Avenir Book" panose="02000503020000020003" pitchFamily="2" charset="0"/>
                        </a:rPr>
                        <a:t>• Monthly precipitation</a:t>
                      </a:r>
                    </a:p>
                    <a:p>
                      <a:r>
                        <a:rPr lang="en-US" sz="1100" dirty="0">
                          <a:latin typeface="Avenir Book" panose="02000503020000020003" pitchFamily="2" charset="0"/>
                        </a:rPr>
                        <a:t>• Determine peak wind per week for each city</a:t>
                      </a:r>
                    </a:p>
                    <a:p>
                      <a:r>
                        <a:rPr lang="en-US" sz="1100" dirty="0">
                          <a:latin typeface="Avenir Book" panose="02000503020000020003" pitchFamily="2" charset="0"/>
                        </a:rPr>
                        <a:t>• Frequency of extreme heat days over 86 degree Fahrenheit </a:t>
                      </a:r>
                    </a:p>
                  </a:txBody>
                  <a:tcPr>
                    <a:solidFill>
                      <a:schemeClr val="bg1">
                        <a:alpha val="54332"/>
                      </a:schemeClr>
                    </a:solidFill>
                  </a:tcPr>
                </a:tc>
                <a:extLst>
                  <a:ext uri="{0D108BD9-81ED-4DB2-BD59-A6C34878D82A}">
                    <a16:rowId xmlns:a16="http://schemas.microsoft.com/office/drawing/2014/main" val="142926702"/>
                  </a:ext>
                </a:extLst>
              </a:tr>
            </a:tbl>
          </a:graphicData>
        </a:graphic>
      </p:graphicFrame>
    </p:spTree>
    <p:extLst>
      <p:ext uri="{BB962C8B-B14F-4D97-AF65-F5344CB8AC3E}">
        <p14:creationId xmlns:p14="http://schemas.microsoft.com/office/powerpoint/2010/main" val="543249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ADAB4DD-85A4-76DD-C3DB-521544FE82B9}"/>
              </a:ext>
            </a:extLst>
          </p:cNvPr>
          <p:cNvPicPr>
            <a:picLocks noChangeAspect="1"/>
          </p:cNvPicPr>
          <p:nvPr/>
        </p:nvPicPr>
        <p:blipFill>
          <a:blip r:embed="rId2"/>
          <a:stretch>
            <a:fillRect/>
          </a:stretch>
        </p:blipFill>
        <p:spPr>
          <a:xfrm>
            <a:off x="0" y="0"/>
            <a:ext cx="12192000" cy="12154485"/>
          </a:xfrm>
          <a:prstGeom prst="rect">
            <a:avLst/>
          </a:prstGeom>
        </p:spPr>
      </p:pic>
      <p:sp>
        <p:nvSpPr>
          <p:cNvPr id="2" name="Title 1">
            <a:extLst>
              <a:ext uri="{FF2B5EF4-FFF2-40B4-BE49-F238E27FC236}">
                <a16:creationId xmlns:a16="http://schemas.microsoft.com/office/drawing/2014/main" id="{441DCD9B-B92A-D904-C1A8-960102058197}"/>
              </a:ext>
            </a:extLst>
          </p:cNvPr>
          <p:cNvSpPr>
            <a:spLocks noGrp="1"/>
          </p:cNvSpPr>
          <p:nvPr>
            <p:ph type="ctrTitle"/>
          </p:nvPr>
        </p:nvSpPr>
        <p:spPr>
          <a:xfrm>
            <a:off x="12303309" y="7368362"/>
            <a:ext cx="7389628" cy="1411731"/>
          </a:xfrm>
        </p:spPr>
        <p:txBody>
          <a:bodyPr>
            <a:noAutofit/>
          </a:bodyPr>
          <a:lstStyle/>
          <a:p>
            <a:endParaRPr lang="en-US" sz="1200" dirty="0">
              <a:latin typeface="Calibri" panose="020F0502020204030204" pitchFamily="34" charset="0"/>
              <a:ea typeface="Bodoni Ornaments" pitchFamily="2" charset="0"/>
              <a:cs typeface="Calibri" panose="020F0502020204030204" pitchFamily="34" charset="0"/>
            </a:endParaRPr>
          </a:p>
        </p:txBody>
      </p:sp>
      <p:sp>
        <p:nvSpPr>
          <p:cNvPr id="3" name="Subtitle 2">
            <a:extLst>
              <a:ext uri="{FF2B5EF4-FFF2-40B4-BE49-F238E27FC236}">
                <a16:creationId xmlns:a16="http://schemas.microsoft.com/office/drawing/2014/main" id="{2C3DEBC5-360D-EBF4-88C7-2BB5BA0F6EEC}"/>
              </a:ext>
            </a:extLst>
          </p:cNvPr>
          <p:cNvSpPr>
            <a:spLocks noGrp="1"/>
          </p:cNvSpPr>
          <p:nvPr>
            <p:ph type="subTitle" idx="1"/>
          </p:nvPr>
        </p:nvSpPr>
        <p:spPr>
          <a:xfrm>
            <a:off x="12518065" y="8780093"/>
            <a:ext cx="9144000" cy="1655762"/>
          </a:xfrm>
        </p:spPr>
        <p:txBody>
          <a:bodyPr/>
          <a:lstStyle/>
          <a:p>
            <a:endParaRPr lang="en-US" dirty="0"/>
          </a:p>
        </p:txBody>
      </p:sp>
      <p:sp>
        <p:nvSpPr>
          <p:cNvPr id="8" name="TextBox 7">
            <a:extLst>
              <a:ext uri="{FF2B5EF4-FFF2-40B4-BE49-F238E27FC236}">
                <a16:creationId xmlns:a16="http://schemas.microsoft.com/office/drawing/2014/main" id="{55246AB4-916C-D75D-8E5B-FE32519BC0EC}"/>
              </a:ext>
            </a:extLst>
          </p:cNvPr>
          <p:cNvSpPr txBox="1"/>
          <p:nvPr/>
        </p:nvSpPr>
        <p:spPr>
          <a:xfrm>
            <a:off x="61785" y="-82910"/>
            <a:ext cx="3212754" cy="769441"/>
          </a:xfrm>
          <a:prstGeom prst="rect">
            <a:avLst/>
          </a:prstGeom>
          <a:noFill/>
          <a:ln>
            <a:noFill/>
          </a:ln>
        </p:spPr>
        <p:txBody>
          <a:bodyPr wrap="square">
            <a:spAutoFit/>
          </a:bodyPr>
          <a:lstStyle/>
          <a:p>
            <a:r>
              <a:rPr lang="en-US" sz="4400" dirty="0">
                <a:latin typeface="Calibri" panose="020F0502020204030204" pitchFamily="34" charset="0"/>
                <a:ea typeface="Bodoni Ornaments" pitchFamily="2" charset="0"/>
                <a:cs typeface="Calibri" panose="020F0502020204030204" pitchFamily="34" charset="0"/>
              </a:rPr>
              <a:t>Queries</a:t>
            </a:r>
            <a:endParaRPr lang="en-US" sz="4400" dirty="0"/>
          </a:p>
        </p:txBody>
      </p:sp>
      <p:sp>
        <p:nvSpPr>
          <p:cNvPr id="5" name="TextBox 4">
            <a:extLst>
              <a:ext uri="{FF2B5EF4-FFF2-40B4-BE49-F238E27FC236}">
                <a16:creationId xmlns:a16="http://schemas.microsoft.com/office/drawing/2014/main" id="{2CEE8899-D776-1DBB-5792-EFAC7D7FF593}"/>
              </a:ext>
            </a:extLst>
          </p:cNvPr>
          <p:cNvSpPr txBox="1"/>
          <p:nvPr/>
        </p:nvSpPr>
        <p:spPr>
          <a:xfrm>
            <a:off x="123570" y="733342"/>
            <a:ext cx="10909300" cy="1384995"/>
          </a:xfrm>
          <a:prstGeom prst="rect">
            <a:avLst/>
          </a:prstGeom>
          <a:noFill/>
        </p:spPr>
        <p:txBody>
          <a:bodyPr wrap="square">
            <a:spAutoFit/>
          </a:bodyPr>
          <a:lstStyle/>
          <a:p>
            <a:pPr marL="0" marR="0">
              <a:buNone/>
            </a:pPr>
            <a:r>
              <a:rPr lang="en-US" sz="1200" dirty="0">
                <a:effectLst/>
                <a:latin typeface="Avenir Book" panose="02000503020000020003" pitchFamily="2" charset="0"/>
              </a:rPr>
              <a:t>Five SQL queries in `</a:t>
            </a:r>
            <a:r>
              <a:rPr lang="en-US" sz="1200" dirty="0" err="1">
                <a:effectLst/>
                <a:latin typeface="Avenir Book" panose="02000503020000020003" pitchFamily="2" charset="0"/>
              </a:rPr>
              <a:t>queries.sql</a:t>
            </a:r>
            <a:r>
              <a:rPr lang="en-US" sz="1200" dirty="0">
                <a:effectLst/>
                <a:latin typeface="Avenir Book" panose="02000503020000020003" pitchFamily="2" charset="0"/>
              </a:rPr>
              <a:t>` perform operations such as:</a:t>
            </a:r>
          </a:p>
          <a:p>
            <a:pPr marL="0" marR="0">
              <a:buNone/>
            </a:pPr>
            <a:endParaRPr lang="en-US" sz="1200" dirty="0">
              <a:effectLst/>
              <a:latin typeface="Avenir Book" panose="02000503020000020003" pitchFamily="2" charset="0"/>
            </a:endParaRPr>
          </a:p>
          <a:p>
            <a:pPr marL="0" marR="0">
              <a:buNone/>
            </a:pPr>
            <a:r>
              <a:rPr lang="en-US" sz="1200" dirty="0">
                <a:effectLst/>
                <a:latin typeface="Avenir Book" panose="02000503020000020003" pitchFamily="2" charset="0"/>
              </a:rPr>
              <a:t>• Hottest day of the year per city</a:t>
            </a:r>
          </a:p>
          <a:p>
            <a:pPr marL="0" marR="0">
              <a:buNone/>
            </a:pPr>
            <a:r>
              <a:rPr lang="en-US" sz="1200" dirty="0">
                <a:effectLst/>
                <a:latin typeface="Avenir Book" panose="02000503020000020003" pitchFamily="2" charset="0"/>
              </a:rPr>
              <a:t>• Average rainfall, </a:t>
            </a:r>
          </a:p>
          <a:p>
            <a:pPr marL="0" marR="0">
              <a:buNone/>
            </a:pPr>
            <a:r>
              <a:rPr lang="en-US" sz="1200" dirty="0">
                <a:effectLst/>
                <a:latin typeface="Avenir Book" panose="02000503020000020003" pitchFamily="2" charset="0"/>
              </a:rPr>
              <a:t>• Monthly precipitation, </a:t>
            </a:r>
          </a:p>
          <a:p>
            <a:pPr marL="0" marR="0">
              <a:buNone/>
            </a:pPr>
            <a:r>
              <a:rPr lang="en-US" sz="1200" dirty="0">
                <a:effectLst/>
                <a:latin typeface="Avenir Book" panose="02000503020000020003" pitchFamily="2" charset="0"/>
              </a:rPr>
              <a:t>• Windiest weeks,</a:t>
            </a:r>
          </a:p>
          <a:p>
            <a:pPr marL="0" marR="0">
              <a:buNone/>
            </a:pPr>
            <a:r>
              <a:rPr lang="en-US" sz="1200" dirty="0">
                <a:effectLst/>
                <a:latin typeface="Avenir Book" panose="02000503020000020003" pitchFamily="2" charset="0"/>
              </a:rPr>
              <a:t>• Frequency of extreme heat days over 88 degree Fahrenheit.</a:t>
            </a:r>
          </a:p>
        </p:txBody>
      </p:sp>
      <p:sp>
        <p:nvSpPr>
          <p:cNvPr id="4" name="Rectangle 3">
            <a:extLst>
              <a:ext uri="{FF2B5EF4-FFF2-40B4-BE49-F238E27FC236}">
                <a16:creationId xmlns:a16="http://schemas.microsoft.com/office/drawing/2014/main" id="{E16EDCD1-0A13-FE1B-921F-38FA27FAD6B2}"/>
              </a:ext>
            </a:extLst>
          </p:cNvPr>
          <p:cNvSpPr/>
          <p:nvPr/>
        </p:nvSpPr>
        <p:spPr>
          <a:xfrm>
            <a:off x="78378" y="2201247"/>
            <a:ext cx="11993526" cy="4017031"/>
          </a:xfrm>
          <a:prstGeom prst="rect">
            <a:avLst/>
          </a:prstGeom>
          <a:solidFill>
            <a:schemeClr val="bg1">
              <a:alpha val="615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90F4F83-4963-FB85-6D5C-99F2767D49A3}"/>
              </a:ext>
            </a:extLst>
          </p:cNvPr>
          <p:cNvSpPr txBox="1"/>
          <p:nvPr/>
        </p:nvSpPr>
        <p:spPr>
          <a:xfrm>
            <a:off x="120096" y="1948519"/>
            <a:ext cx="10376263" cy="4830618"/>
          </a:xfrm>
          <a:prstGeom prst="rect">
            <a:avLst/>
          </a:prstGeom>
          <a:noFill/>
        </p:spPr>
        <p:txBody>
          <a:bodyPr wrap="square">
            <a:spAutoFit/>
          </a:bodyPr>
          <a:lstStyle/>
          <a:p>
            <a:pPr>
              <a:lnSpc>
                <a:spcPts val="1350"/>
              </a:lnSpc>
              <a:buNone/>
            </a:pPr>
            <a:br>
              <a:rPr lang="en-US" sz="900" b="0" dirty="0">
                <a:solidFill>
                  <a:srgbClr val="CCCCCC"/>
                </a:solidFill>
                <a:effectLst/>
                <a:latin typeface="Menlo" panose="020B0609030804020204" pitchFamily="49" charset="0"/>
              </a:rPr>
            </a:br>
            <a:endParaRPr lang="en-US" sz="900" b="0" dirty="0">
              <a:effectLst/>
              <a:latin typeface="Menlo" panose="020B0609030804020204" pitchFamily="49" charset="0"/>
            </a:endParaRPr>
          </a:p>
          <a:p>
            <a:pPr>
              <a:lnSpc>
                <a:spcPts val="1350"/>
              </a:lnSpc>
              <a:buNone/>
            </a:pPr>
            <a:r>
              <a:rPr lang="en-US" sz="900" b="1" dirty="0">
                <a:effectLst/>
                <a:latin typeface="Menlo" panose="020B0609030804020204" pitchFamily="49" charset="0"/>
              </a:rPr>
              <a:t>-- Query 1: Find the highest temperature per city</a:t>
            </a:r>
          </a:p>
          <a:p>
            <a:r>
              <a:rPr lang="en-US" sz="1000" dirty="0">
                <a:latin typeface="Avenir Book" panose="02000503020000020003" pitchFamily="2" charset="0"/>
              </a:rPr>
              <a:t>SELECT DISTINCT ON (</a:t>
            </a:r>
            <a:r>
              <a:rPr lang="en-US" sz="1000" dirty="0" err="1">
                <a:latin typeface="Avenir Book" panose="02000503020000020003" pitchFamily="2" charset="0"/>
              </a:rPr>
              <a:t>c.city_id</a:t>
            </a:r>
            <a:r>
              <a:rPr lang="en-US" sz="1000" dirty="0">
                <a:latin typeface="Avenir Book" panose="02000503020000020003" pitchFamily="2" charset="0"/>
              </a:rPr>
              <a:t>)</a:t>
            </a:r>
          </a:p>
          <a:p>
            <a:r>
              <a:rPr lang="en-US" sz="1000" dirty="0" err="1">
                <a:latin typeface="Avenir Book" panose="02000503020000020003" pitchFamily="2" charset="0"/>
              </a:rPr>
              <a:t>c.name</a:t>
            </a:r>
            <a:r>
              <a:rPr lang="en-US" sz="1000" dirty="0">
                <a:latin typeface="Avenir Book" panose="02000503020000020003" pitchFamily="2" charset="0"/>
              </a:rPr>
              <a:t> AS city,</a:t>
            </a:r>
          </a:p>
          <a:p>
            <a:r>
              <a:rPr lang="en-US" sz="1000" dirty="0" err="1">
                <a:latin typeface="Avenir Book" panose="02000503020000020003" pitchFamily="2" charset="0"/>
              </a:rPr>
              <a:t>w.record_date</a:t>
            </a:r>
            <a:r>
              <a:rPr lang="en-US" sz="1000" dirty="0">
                <a:latin typeface="Avenir Book" panose="02000503020000020003" pitchFamily="2" charset="0"/>
              </a:rPr>
              <a:t>,</a:t>
            </a:r>
          </a:p>
          <a:p>
            <a:r>
              <a:rPr lang="en-US" sz="1000" dirty="0" err="1">
                <a:latin typeface="Avenir Book" panose="02000503020000020003" pitchFamily="2" charset="0"/>
              </a:rPr>
              <a:t>w.temp_max_c</a:t>
            </a:r>
            <a:r>
              <a:rPr lang="en-US" sz="1000" dirty="0">
                <a:latin typeface="Avenir Book" panose="02000503020000020003" pitchFamily="2" charset="0"/>
              </a:rPr>
              <a:t> AS “hottest max temp (</a:t>
            </a:r>
            <a:r>
              <a:rPr lang="en-US" sz="1000" dirty="0" err="1">
                <a:latin typeface="Avenir Book" panose="02000503020000020003" pitchFamily="2" charset="0"/>
              </a:rPr>
              <a:t>celsius</a:t>
            </a:r>
            <a:r>
              <a:rPr lang="en-US" sz="1000" dirty="0">
                <a:latin typeface="Avenir Book" panose="02000503020000020003" pitchFamily="2" charset="0"/>
              </a:rPr>
              <a:t>)”,</a:t>
            </a:r>
          </a:p>
          <a:p>
            <a:r>
              <a:rPr lang="en-US" sz="1000" dirty="0">
                <a:latin typeface="Avenir Book" panose="02000503020000020003" pitchFamily="2" charset="0"/>
              </a:rPr>
              <a:t>ROUND((</a:t>
            </a:r>
            <a:r>
              <a:rPr lang="en-US" sz="1000" dirty="0" err="1">
                <a:latin typeface="Avenir Book" panose="02000503020000020003" pitchFamily="2" charset="0"/>
              </a:rPr>
              <a:t>w.temp_max_c</a:t>
            </a:r>
            <a:r>
              <a:rPr lang="en-US" sz="1000" dirty="0">
                <a:latin typeface="Avenir Book" panose="02000503020000020003" pitchFamily="2" charset="0"/>
              </a:rPr>
              <a:t> * 9.0 / 5.0) + 32, 2) </a:t>
            </a:r>
          </a:p>
          <a:p>
            <a:r>
              <a:rPr lang="en-US" sz="1000" dirty="0">
                <a:latin typeface="Avenir Book" panose="02000503020000020003" pitchFamily="2" charset="0"/>
              </a:rPr>
              <a:t>AS “hottest max temp (</a:t>
            </a:r>
            <a:r>
              <a:rPr lang="en-US" sz="1000" dirty="0" err="1">
                <a:latin typeface="Avenir Book" panose="02000503020000020003" pitchFamily="2" charset="0"/>
              </a:rPr>
              <a:t>fahrenheit</a:t>
            </a:r>
            <a:r>
              <a:rPr lang="en-US" sz="1000" dirty="0">
                <a:latin typeface="Avenir Book" panose="02000503020000020003" pitchFamily="2" charset="0"/>
              </a:rPr>
              <a:t>)”</a:t>
            </a:r>
          </a:p>
          <a:p>
            <a:r>
              <a:rPr lang="en-US" sz="1000" dirty="0">
                <a:latin typeface="Avenir Book" panose="02000503020000020003" pitchFamily="2" charset="0"/>
              </a:rPr>
              <a:t>FROM weather w</a:t>
            </a:r>
          </a:p>
          <a:p>
            <a:r>
              <a:rPr lang="en-US" sz="1000" dirty="0">
                <a:latin typeface="Avenir Book" panose="02000503020000020003" pitchFamily="2" charset="0"/>
              </a:rPr>
              <a:t>JOIN cities c ON </a:t>
            </a:r>
            <a:r>
              <a:rPr lang="en-US" sz="1000" dirty="0" err="1">
                <a:latin typeface="Avenir Book" panose="02000503020000020003" pitchFamily="2" charset="0"/>
              </a:rPr>
              <a:t>c.city_id</a:t>
            </a:r>
            <a:r>
              <a:rPr lang="en-US" sz="1000" dirty="0">
                <a:latin typeface="Avenir Book" panose="02000503020000020003" pitchFamily="2" charset="0"/>
              </a:rPr>
              <a:t> = </a:t>
            </a:r>
            <a:r>
              <a:rPr lang="en-US" sz="1000" dirty="0" err="1">
                <a:latin typeface="Avenir Book" panose="02000503020000020003" pitchFamily="2" charset="0"/>
              </a:rPr>
              <a:t>w.city_id</a:t>
            </a:r>
            <a:endParaRPr lang="en-US" sz="1000" dirty="0">
              <a:latin typeface="Avenir Book" panose="02000503020000020003" pitchFamily="2" charset="0"/>
            </a:endParaRPr>
          </a:p>
          <a:p>
            <a:r>
              <a:rPr lang="en-US" sz="1000" dirty="0">
                <a:latin typeface="Avenir Book" panose="02000503020000020003" pitchFamily="2" charset="0"/>
              </a:rPr>
              <a:t>ORDER BY </a:t>
            </a:r>
            <a:r>
              <a:rPr lang="en-US" sz="1000" dirty="0" err="1">
                <a:latin typeface="Avenir Book" panose="02000503020000020003" pitchFamily="2" charset="0"/>
              </a:rPr>
              <a:t>c.city_id</a:t>
            </a:r>
            <a:r>
              <a:rPr lang="en-US" sz="1000" dirty="0">
                <a:latin typeface="Avenir Book" panose="02000503020000020003" pitchFamily="2" charset="0"/>
              </a:rPr>
              <a:t>, </a:t>
            </a:r>
            <a:r>
              <a:rPr lang="en-US" sz="1000" dirty="0" err="1">
                <a:latin typeface="Avenir Book" panose="02000503020000020003" pitchFamily="2" charset="0"/>
              </a:rPr>
              <a:t>w.temp_max_c</a:t>
            </a:r>
            <a:r>
              <a:rPr lang="en-US" sz="1000" dirty="0">
                <a:latin typeface="Avenir Book" panose="02000503020000020003" pitchFamily="2" charset="0"/>
              </a:rPr>
              <a:t> DESC, </a:t>
            </a:r>
            <a:r>
              <a:rPr lang="en-US" sz="1000" dirty="0" err="1">
                <a:latin typeface="Avenir Book" panose="02000503020000020003" pitchFamily="2" charset="0"/>
              </a:rPr>
              <a:t>w.record_date</a:t>
            </a:r>
            <a:r>
              <a:rPr lang="en-US" sz="1000" dirty="0">
                <a:latin typeface="Avenir Book" panose="02000503020000020003" pitchFamily="2" charset="0"/>
              </a:rPr>
              <a:t>;</a:t>
            </a:r>
            <a:br>
              <a:rPr lang="en-US" sz="900" b="0" dirty="0">
                <a:solidFill>
                  <a:srgbClr val="CCCCCC"/>
                </a:solidFill>
                <a:effectLst/>
                <a:latin typeface="Menlo" panose="020B0609030804020204" pitchFamily="49" charset="0"/>
              </a:rPr>
            </a:br>
            <a:endParaRPr lang="en-US" sz="900" b="0" dirty="0">
              <a:solidFill>
                <a:srgbClr val="CCCCCC"/>
              </a:solidFill>
              <a:effectLst/>
              <a:latin typeface="Menlo" panose="020B0609030804020204" pitchFamily="49" charset="0"/>
            </a:endParaRPr>
          </a:p>
          <a:p>
            <a:pPr>
              <a:lnSpc>
                <a:spcPts val="1350"/>
              </a:lnSpc>
              <a:buNone/>
            </a:pPr>
            <a:r>
              <a:rPr lang="en-US" sz="900" b="1" dirty="0">
                <a:effectLst/>
                <a:latin typeface="Menlo" panose="020B0609030804020204" pitchFamily="49" charset="0"/>
              </a:rPr>
              <a:t>-- Determine average rainfall per city</a:t>
            </a:r>
          </a:p>
          <a:p>
            <a:pPr>
              <a:lnSpc>
                <a:spcPts val="1350"/>
              </a:lnSpc>
              <a:buNone/>
            </a:pPr>
            <a:r>
              <a:rPr lang="en-US" sz="900" b="0" dirty="0">
                <a:effectLst/>
                <a:latin typeface="Menlo" panose="020B0609030804020204" pitchFamily="49" charset="0"/>
              </a:rPr>
              <a:t>SELECT</a:t>
            </a:r>
          </a:p>
          <a:p>
            <a:pPr>
              <a:lnSpc>
                <a:spcPts val="1350"/>
              </a:lnSpc>
              <a:buNone/>
            </a:pPr>
            <a:r>
              <a:rPr lang="en-US" sz="900" b="0" dirty="0" err="1">
                <a:effectLst/>
                <a:latin typeface="Menlo" panose="020B0609030804020204" pitchFamily="49" charset="0"/>
              </a:rPr>
              <a:t>c.name</a:t>
            </a:r>
            <a:r>
              <a:rPr lang="en-US" sz="900" b="0" dirty="0">
                <a:effectLst/>
                <a:latin typeface="Menlo" panose="020B0609030804020204" pitchFamily="49" charset="0"/>
              </a:rPr>
              <a:t> AS city,</a:t>
            </a:r>
          </a:p>
          <a:p>
            <a:pPr>
              <a:lnSpc>
                <a:spcPts val="1350"/>
              </a:lnSpc>
              <a:buNone/>
            </a:pPr>
            <a:r>
              <a:rPr lang="en-US" sz="900" b="0" dirty="0">
                <a:effectLst/>
                <a:latin typeface="Menlo" panose="020B0609030804020204" pitchFamily="49" charset="0"/>
              </a:rPr>
              <a:t>ROUND(AVG(</a:t>
            </a:r>
            <a:r>
              <a:rPr lang="en-US" sz="900" b="0" dirty="0" err="1">
                <a:effectLst/>
                <a:latin typeface="Menlo" panose="020B0609030804020204" pitchFamily="49" charset="0"/>
              </a:rPr>
              <a:t>w.rain_mm</a:t>
            </a:r>
            <a:r>
              <a:rPr lang="en-US" sz="900" b="0" dirty="0">
                <a:effectLst/>
                <a:latin typeface="Menlo" panose="020B0609030804020204" pitchFamily="49" charset="0"/>
              </a:rPr>
              <a:t>), 2) AS </a:t>
            </a:r>
            <a:r>
              <a:rPr lang="en-US" sz="900" b="0" dirty="0" err="1">
                <a:effectLst/>
                <a:latin typeface="Menlo" panose="020B0609030804020204" pitchFamily="49" charset="0"/>
              </a:rPr>
              <a:t>average_rain</a:t>
            </a:r>
            <a:r>
              <a:rPr lang="en-US" sz="900" b="0" dirty="0">
                <a:effectLst/>
                <a:latin typeface="Menlo" panose="020B0609030804020204" pitchFamily="49" charset="0"/>
              </a:rPr>
              <a:t>,</a:t>
            </a:r>
          </a:p>
          <a:p>
            <a:pPr>
              <a:lnSpc>
                <a:spcPts val="1350"/>
              </a:lnSpc>
              <a:buNone/>
            </a:pPr>
            <a:r>
              <a:rPr lang="en-US" sz="900" b="0" dirty="0">
                <a:effectLst/>
                <a:latin typeface="Menlo" panose="020B0609030804020204" pitchFamily="49" charset="0"/>
              </a:rPr>
              <a:t>ROUND(SUM(</a:t>
            </a:r>
            <a:r>
              <a:rPr lang="en-US" sz="900" b="0" dirty="0" err="1">
                <a:effectLst/>
                <a:latin typeface="Menlo" panose="020B0609030804020204" pitchFamily="49" charset="0"/>
              </a:rPr>
              <a:t>w.rain_mm</a:t>
            </a:r>
            <a:r>
              <a:rPr lang="en-US" sz="900" b="0" dirty="0">
                <a:effectLst/>
                <a:latin typeface="Menlo" panose="020B0609030804020204" pitchFamily="49" charset="0"/>
              </a:rPr>
              <a:t>), 2) AS </a:t>
            </a:r>
            <a:r>
              <a:rPr lang="en-US" sz="900" b="0" dirty="0" err="1">
                <a:effectLst/>
                <a:latin typeface="Menlo" panose="020B0609030804020204" pitchFamily="49" charset="0"/>
              </a:rPr>
              <a:t>total_rain</a:t>
            </a:r>
            <a:endParaRPr lang="en-US" sz="900" b="0" dirty="0">
              <a:effectLst/>
              <a:latin typeface="Menlo" panose="020B0609030804020204" pitchFamily="49" charset="0"/>
            </a:endParaRPr>
          </a:p>
          <a:p>
            <a:pPr>
              <a:lnSpc>
                <a:spcPts val="1350"/>
              </a:lnSpc>
              <a:buNone/>
            </a:pPr>
            <a:r>
              <a:rPr lang="en-US" sz="900" b="0" dirty="0">
                <a:effectLst/>
                <a:latin typeface="Menlo" panose="020B0609030804020204" pitchFamily="49" charset="0"/>
              </a:rPr>
              <a:t>FROM weather w</a:t>
            </a:r>
          </a:p>
          <a:p>
            <a:pPr>
              <a:lnSpc>
                <a:spcPts val="1350"/>
              </a:lnSpc>
              <a:buNone/>
            </a:pPr>
            <a:r>
              <a:rPr lang="en-US" sz="900" b="0" dirty="0">
                <a:effectLst/>
                <a:latin typeface="Menlo" panose="020B0609030804020204" pitchFamily="49" charset="0"/>
              </a:rPr>
              <a:t>JOIN cities c ON </a:t>
            </a:r>
            <a:r>
              <a:rPr lang="en-US" sz="900" b="0" dirty="0" err="1">
                <a:effectLst/>
                <a:latin typeface="Menlo" panose="020B0609030804020204" pitchFamily="49" charset="0"/>
              </a:rPr>
              <a:t>c.city_id</a:t>
            </a:r>
            <a:r>
              <a:rPr lang="en-US" sz="900" b="0" dirty="0">
                <a:effectLst/>
                <a:latin typeface="Menlo" panose="020B0609030804020204" pitchFamily="49" charset="0"/>
              </a:rPr>
              <a:t> = </a:t>
            </a:r>
            <a:r>
              <a:rPr lang="en-US" sz="900" b="0" dirty="0" err="1">
                <a:effectLst/>
                <a:latin typeface="Menlo" panose="020B0609030804020204" pitchFamily="49" charset="0"/>
              </a:rPr>
              <a:t>w.city_id</a:t>
            </a:r>
            <a:endParaRPr lang="en-US" sz="900" b="0" dirty="0">
              <a:effectLst/>
              <a:latin typeface="Menlo" panose="020B0609030804020204" pitchFamily="49" charset="0"/>
            </a:endParaRPr>
          </a:p>
          <a:p>
            <a:pPr>
              <a:lnSpc>
                <a:spcPts val="1350"/>
              </a:lnSpc>
              <a:buNone/>
            </a:pPr>
            <a:r>
              <a:rPr lang="en-US" sz="900" b="0" dirty="0">
                <a:effectLst/>
                <a:latin typeface="Menlo" panose="020B0609030804020204" pitchFamily="49" charset="0"/>
              </a:rPr>
              <a:t>GROUP BY </a:t>
            </a:r>
            <a:r>
              <a:rPr lang="en-US" sz="900" b="0" dirty="0" err="1">
                <a:effectLst/>
                <a:latin typeface="Menlo" panose="020B0609030804020204" pitchFamily="49" charset="0"/>
              </a:rPr>
              <a:t>c.name</a:t>
            </a:r>
            <a:endParaRPr lang="en-US" sz="900" b="0" dirty="0">
              <a:effectLst/>
              <a:latin typeface="Menlo" panose="020B0609030804020204" pitchFamily="49" charset="0"/>
            </a:endParaRPr>
          </a:p>
          <a:p>
            <a:pPr>
              <a:lnSpc>
                <a:spcPts val="1350"/>
              </a:lnSpc>
              <a:buNone/>
            </a:pPr>
            <a:r>
              <a:rPr lang="en-US" sz="900" b="0" dirty="0">
                <a:effectLst/>
                <a:latin typeface="Menlo" panose="020B0609030804020204" pitchFamily="49" charset="0"/>
              </a:rPr>
              <a:t>ORDER BY </a:t>
            </a:r>
            <a:r>
              <a:rPr lang="en-US" sz="900" b="0" dirty="0" err="1">
                <a:effectLst/>
                <a:latin typeface="Menlo" panose="020B0609030804020204" pitchFamily="49" charset="0"/>
              </a:rPr>
              <a:t>average_rain</a:t>
            </a:r>
            <a:r>
              <a:rPr lang="en-US" sz="900" b="0" dirty="0">
                <a:effectLst/>
                <a:latin typeface="Menlo" panose="020B0609030804020204" pitchFamily="49" charset="0"/>
              </a:rPr>
              <a:t> DESC;</a:t>
            </a:r>
          </a:p>
          <a:p>
            <a:pPr>
              <a:lnSpc>
                <a:spcPts val="1350"/>
              </a:lnSpc>
              <a:buNone/>
            </a:pPr>
            <a:br>
              <a:rPr lang="en-US" sz="900" b="0" dirty="0">
                <a:effectLst/>
                <a:latin typeface="Menlo" panose="020B0609030804020204" pitchFamily="49" charset="0"/>
              </a:rPr>
            </a:br>
            <a:br>
              <a:rPr lang="en-US" sz="900" b="0" dirty="0">
                <a:effectLst/>
                <a:latin typeface="Menlo" panose="020B0609030804020204" pitchFamily="49" charset="0"/>
              </a:rPr>
            </a:br>
            <a:endParaRPr lang="en-US" sz="900" b="0" dirty="0">
              <a:effectLst/>
              <a:latin typeface="Menlo" panose="020B0609030804020204" pitchFamily="49" charset="0"/>
            </a:endParaRPr>
          </a:p>
          <a:p>
            <a:pPr>
              <a:lnSpc>
                <a:spcPts val="1350"/>
              </a:lnSpc>
              <a:buNone/>
            </a:pPr>
            <a:br>
              <a:rPr lang="en-US" sz="900" b="0" dirty="0">
                <a:solidFill>
                  <a:srgbClr val="CCCCCC"/>
                </a:solidFill>
                <a:effectLst/>
                <a:latin typeface="Menlo" panose="020B0609030804020204" pitchFamily="49" charset="0"/>
              </a:rPr>
            </a:br>
            <a:endParaRPr lang="en-US" sz="900" b="0" dirty="0">
              <a:solidFill>
                <a:srgbClr val="CCCCCC"/>
              </a:solidFill>
              <a:effectLst/>
              <a:latin typeface="Menlo" panose="020B0609030804020204" pitchFamily="49" charset="0"/>
            </a:endParaRPr>
          </a:p>
          <a:p>
            <a:pPr>
              <a:lnSpc>
                <a:spcPts val="1350"/>
              </a:lnSpc>
              <a:buNone/>
            </a:pPr>
            <a:endParaRPr lang="en-US" sz="900" b="0" dirty="0">
              <a:solidFill>
                <a:srgbClr val="CCCCCC"/>
              </a:solidFill>
              <a:effectLst/>
              <a:latin typeface="Menlo" panose="020B0609030804020204" pitchFamily="49" charset="0"/>
            </a:endParaRPr>
          </a:p>
        </p:txBody>
      </p:sp>
      <p:sp>
        <p:nvSpPr>
          <p:cNvPr id="13" name="TextBox 12">
            <a:extLst>
              <a:ext uri="{FF2B5EF4-FFF2-40B4-BE49-F238E27FC236}">
                <a16:creationId xmlns:a16="http://schemas.microsoft.com/office/drawing/2014/main" id="{D2EC69EA-0D01-5F18-3DC9-BEB0508BD37F}"/>
              </a:ext>
            </a:extLst>
          </p:cNvPr>
          <p:cNvSpPr txBox="1"/>
          <p:nvPr/>
        </p:nvSpPr>
        <p:spPr>
          <a:xfrm>
            <a:off x="3917950" y="2246980"/>
            <a:ext cx="10909300" cy="3842655"/>
          </a:xfrm>
          <a:prstGeom prst="rect">
            <a:avLst/>
          </a:prstGeom>
          <a:noFill/>
        </p:spPr>
        <p:txBody>
          <a:bodyPr wrap="square">
            <a:spAutoFit/>
          </a:bodyPr>
          <a:lstStyle/>
          <a:p>
            <a:pPr>
              <a:lnSpc>
                <a:spcPts val="1350"/>
              </a:lnSpc>
              <a:buNone/>
            </a:pPr>
            <a:r>
              <a:rPr lang="en-US" sz="900" b="1" dirty="0">
                <a:effectLst/>
                <a:latin typeface="Menlo" panose="020B0609030804020204" pitchFamily="49" charset="0"/>
              </a:rPr>
              <a:t>-- Query 3: Total monthly precipitation by city</a:t>
            </a:r>
          </a:p>
          <a:p>
            <a:pPr>
              <a:lnSpc>
                <a:spcPts val="1350"/>
              </a:lnSpc>
              <a:buNone/>
            </a:pPr>
            <a:r>
              <a:rPr lang="en-US" sz="900" b="0" dirty="0">
                <a:effectLst/>
                <a:latin typeface="Menlo" panose="020B0609030804020204" pitchFamily="49" charset="0"/>
              </a:rPr>
              <a:t>SELECT</a:t>
            </a:r>
          </a:p>
          <a:p>
            <a:pPr>
              <a:lnSpc>
                <a:spcPts val="1350"/>
              </a:lnSpc>
              <a:buNone/>
            </a:pPr>
            <a:r>
              <a:rPr lang="en-US" sz="900" b="0" dirty="0" err="1">
                <a:effectLst/>
                <a:latin typeface="Menlo" panose="020B0609030804020204" pitchFamily="49" charset="0"/>
              </a:rPr>
              <a:t>c.name</a:t>
            </a:r>
            <a:r>
              <a:rPr lang="en-US" sz="900" b="0" dirty="0">
                <a:effectLst/>
                <a:latin typeface="Menlo" panose="020B0609030804020204" pitchFamily="49" charset="0"/>
              </a:rPr>
              <a:t> AS city,</a:t>
            </a:r>
          </a:p>
          <a:p>
            <a:pPr>
              <a:lnSpc>
                <a:spcPts val="1350"/>
              </a:lnSpc>
              <a:buNone/>
            </a:pPr>
            <a:r>
              <a:rPr lang="en-US" sz="900" b="0" dirty="0">
                <a:effectLst/>
                <a:latin typeface="Menlo" panose="020B0609030804020204" pitchFamily="49" charset="0"/>
              </a:rPr>
              <a:t>DATE_TRUNC('month', </a:t>
            </a:r>
            <a:r>
              <a:rPr lang="en-US" sz="900" b="0" dirty="0" err="1">
                <a:effectLst/>
                <a:latin typeface="Menlo" panose="020B0609030804020204" pitchFamily="49" charset="0"/>
              </a:rPr>
              <a:t>w.record_date</a:t>
            </a:r>
            <a:r>
              <a:rPr lang="en-US" sz="900" b="0" dirty="0">
                <a:effectLst/>
                <a:latin typeface="Menlo" panose="020B0609030804020204" pitchFamily="49" charset="0"/>
              </a:rPr>
              <a:t>)::DATE AS month,</a:t>
            </a:r>
          </a:p>
          <a:p>
            <a:pPr>
              <a:lnSpc>
                <a:spcPts val="1350"/>
              </a:lnSpc>
              <a:buNone/>
            </a:pPr>
            <a:r>
              <a:rPr lang="en-US" sz="900" b="0" dirty="0">
                <a:effectLst/>
                <a:latin typeface="Menlo" panose="020B0609030804020204" pitchFamily="49" charset="0"/>
              </a:rPr>
              <a:t>ROUND(SUM(</a:t>
            </a:r>
            <a:r>
              <a:rPr lang="en-US" sz="900" b="0" dirty="0" err="1">
                <a:effectLst/>
                <a:latin typeface="Menlo" panose="020B0609030804020204" pitchFamily="49" charset="0"/>
              </a:rPr>
              <a:t>w.rain_mm</a:t>
            </a:r>
            <a:r>
              <a:rPr lang="en-US" sz="900" b="0" dirty="0">
                <a:effectLst/>
                <a:latin typeface="Menlo" panose="020B0609030804020204" pitchFamily="49" charset="0"/>
              </a:rPr>
              <a:t>), 2) AS </a:t>
            </a:r>
            <a:r>
              <a:rPr lang="en-US" sz="900" b="0" dirty="0" err="1">
                <a:effectLst/>
                <a:latin typeface="Menlo" panose="020B0609030804020204" pitchFamily="49" charset="0"/>
              </a:rPr>
              <a:t>total_rain</a:t>
            </a:r>
            <a:r>
              <a:rPr lang="en-US" sz="900" b="0" dirty="0">
                <a:effectLst/>
                <a:latin typeface="Menlo" panose="020B0609030804020204" pitchFamily="49" charset="0"/>
              </a:rPr>
              <a:t>,</a:t>
            </a:r>
          </a:p>
          <a:p>
            <a:pPr>
              <a:lnSpc>
                <a:spcPts val="1350"/>
              </a:lnSpc>
              <a:buNone/>
            </a:pPr>
            <a:r>
              <a:rPr lang="en-US" sz="900" b="0" dirty="0">
                <a:effectLst/>
                <a:latin typeface="Menlo" panose="020B0609030804020204" pitchFamily="49" charset="0"/>
              </a:rPr>
              <a:t>COUNT(*) AS </a:t>
            </a:r>
            <a:r>
              <a:rPr lang="en-US" sz="900" b="0" dirty="0" err="1">
                <a:effectLst/>
                <a:latin typeface="Menlo" panose="020B0609030804020204" pitchFamily="49" charset="0"/>
              </a:rPr>
              <a:t>days_in_month</a:t>
            </a:r>
            <a:endParaRPr lang="en-US" sz="900" b="0" dirty="0">
              <a:effectLst/>
              <a:latin typeface="Menlo" panose="020B0609030804020204" pitchFamily="49" charset="0"/>
            </a:endParaRPr>
          </a:p>
          <a:p>
            <a:pPr>
              <a:lnSpc>
                <a:spcPts val="1350"/>
              </a:lnSpc>
              <a:buNone/>
            </a:pPr>
            <a:r>
              <a:rPr lang="en-US" sz="900" b="0" dirty="0">
                <a:effectLst/>
                <a:latin typeface="Menlo" panose="020B0609030804020204" pitchFamily="49" charset="0"/>
              </a:rPr>
              <a:t>FROM weather w</a:t>
            </a:r>
          </a:p>
          <a:p>
            <a:pPr>
              <a:lnSpc>
                <a:spcPts val="1350"/>
              </a:lnSpc>
              <a:buNone/>
            </a:pPr>
            <a:r>
              <a:rPr lang="en-US" sz="900" b="0" dirty="0">
                <a:effectLst/>
                <a:latin typeface="Menlo" panose="020B0609030804020204" pitchFamily="49" charset="0"/>
              </a:rPr>
              <a:t>JOIN cities c ON </a:t>
            </a:r>
            <a:r>
              <a:rPr lang="en-US" sz="900" b="0" dirty="0" err="1">
                <a:effectLst/>
                <a:latin typeface="Menlo" panose="020B0609030804020204" pitchFamily="49" charset="0"/>
              </a:rPr>
              <a:t>c.city_id</a:t>
            </a:r>
            <a:r>
              <a:rPr lang="en-US" sz="900" b="0" dirty="0">
                <a:effectLst/>
                <a:latin typeface="Menlo" panose="020B0609030804020204" pitchFamily="49" charset="0"/>
              </a:rPr>
              <a:t> = </a:t>
            </a:r>
            <a:r>
              <a:rPr lang="en-US" sz="900" b="0" dirty="0" err="1">
                <a:effectLst/>
                <a:latin typeface="Menlo" panose="020B0609030804020204" pitchFamily="49" charset="0"/>
              </a:rPr>
              <a:t>w.city_id</a:t>
            </a:r>
            <a:endParaRPr lang="en-US" sz="900" b="0" dirty="0">
              <a:effectLst/>
              <a:latin typeface="Menlo" panose="020B0609030804020204" pitchFamily="49" charset="0"/>
            </a:endParaRPr>
          </a:p>
          <a:p>
            <a:pPr>
              <a:lnSpc>
                <a:spcPts val="1350"/>
              </a:lnSpc>
              <a:buNone/>
            </a:pPr>
            <a:r>
              <a:rPr lang="en-US" sz="900" b="0" dirty="0">
                <a:effectLst/>
                <a:latin typeface="Menlo" panose="020B0609030804020204" pitchFamily="49" charset="0"/>
              </a:rPr>
              <a:t>GROUP BY </a:t>
            </a:r>
            <a:r>
              <a:rPr lang="en-US" sz="900" b="0" dirty="0" err="1">
                <a:effectLst/>
                <a:latin typeface="Menlo" panose="020B0609030804020204" pitchFamily="49" charset="0"/>
              </a:rPr>
              <a:t>c.name</a:t>
            </a:r>
            <a:r>
              <a:rPr lang="en-US" sz="900" b="0" dirty="0">
                <a:effectLst/>
                <a:latin typeface="Menlo" panose="020B0609030804020204" pitchFamily="49" charset="0"/>
              </a:rPr>
              <a:t>, DATE_TRUNC('month', </a:t>
            </a:r>
            <a:r>
              <a:rPr lang="en-US" sz="900" b="0" dirty="0" err="1">
                <a:effectLst/>
                <a:latin typeface="Menlo" panose="020B0609030804020204" pitchFamily="49" charset="0"/>
              </a:rPr>
              <a:t>w.record_date</a:t>
            </a:r>
            <a:r>
              <a:rPr lang="en-US" sz="900" b="0" dirty="0">
                <a:effectLst/>
                <a:latin typeface="Menlo" panose="020B0609030804020204" pitchFamily="49" charset="0"/>
              </a:rPr>
              <a:t>)</a:t>
            </a:r>
          </a:p>
          <a:p>
            <a:pPr>
              <a:lnSpc>
                <a:spcPts val="1350"/>
              </a:lnSpc>
              <a:buNone/>
            </a:pPr>
            <a:r>
              <a:rPr lang="en-US" sz="900" b="0" dirty="0">
                <a:effectLst/>
                <a:latin typeface="Menlo" panose="020B0609030804020204" pitchFamily="49" charset="0"/>
              </a:rPr>
              <a:t>ORDER BY </a:t>
            </a:r>
            <a:r>
              <a:rPr lang="en-US" sz="900" b="0" dirty="0" err="1">
                <a:effectLst/>
                <a:latin typeface="Menlo" panose="020B0609030804020204" pitchFamily="49" charset="0"/>
              </a:rPr>
              <a:t>c.name</a:t>
            </a:r>
            <a:r>
              <a:rPr lang="en-US" sz="900" b="0" dirty="0">
                <a:effectLst/>
                <a:latin typeface="Menlo" panose="020B0609030804020204" pitchFamily="49" charset="0"/>
              </a:rPr>
              <a:t>, month;</a:t>
            </a:r>
          </a:p>
          <a:p>
            <a:pPr>
              <a:lnSpc>
                <a:spcPts val="1350"/>
              </a:lnSpc>
              <a:buNone/>
            </a:pPr>
            <a:br>
              <a:rPr lang="en-US" sz="900" b="1" dirty="0">
                <a:solidFill>
                  <a:srgbClr val="CCCCCC"/>
                </a:solidFill>
                <a:effectLst/>
                <a:latin typeface="Menlo" panose="020B0609030804020204" pitchFamily="49" charset="0"/>
              </a:rPr>
            </a:br>
            <a:r>
              <a:rPr lang="en-US" sz="900" b="1" dirty="0">
                <a:effectLst/>
                <a:latin typeface="Menlo" panose="020B0609030804020204" pitchFamily="49" charset="0"/>
              </a:rPr>
              <a:t>-- Query 4: Windiest week of the year per city</a:t>
            </a:r>
          </a:p>
          <a:p>
            <a:pPr>
              <a:lnSpc>
                <a:spcPts val="1350"/>
              </a:lnSpc>
              <a:buNone/>
            </a:pPr>
            <a:r>
              <a:rPr lang="en-US" sz="900" b="0" dirty="0">
                <a:effectLst/>
                <a:latin typeface="Menlo" panose="020B0609030804020204" pitchFamily="49" charset="0"/>
              </a:rPr>
              <a:t>SELECT</a:t>
            </a:r>
          </a:p>
          <a:p>
            <a:pPr>
              <a:lnSpc>
                <a:spcPts val="1350"/>
              </a:lnSpc>
              <a:buNone/>
            </a:pPr>
            <a:r>
              <a:rPr lang="en-US" sz="900" b="0" dirty="0" err="1">
                <a:effectLst/>
                <a:latin typeface="Menlo" panose="020B0609030804020204" pitchFamily="49" charset="0"/>
              </a:rPr>
              <a:t>c.name</a:t>
            </a:r>
            <a:r>
              <a:rPr lang="en-US" sz="900" b="0" dirty="0">
                <a:effectLst/>
                <a:latin typeface="Menlo" panose="020B0609030804020204" pitchFamily="49" charset="0"/>
              </a:rPr>
              <a:t> AS city,</a:t>
            </a:r>
          </a:p>
          <a:p>
            <a:pPr>
              <a:lnSpc>
                <a:spcPts val="1350"/>
              </a:lnSpc>
              <a:buNone/>
            </a:pPr>
            <a:r>
              <a:rPr lang="en-US" sz="900" b="0" dirty="0">
                <a:effectLst/>
                <a:latin typeface="Menlo" panose="020B0609030804020204" pitchFamily="49" charset="0"/>
              </a:rPr>
              <a:t>DATE_TRUNC('week', </a:t>
            </a:r>
            <a:r>
              <a:rPr lang="en-US" sz="900" b="0" dirty="0" err="1">
                <a:effectLst/>
                <a:latin typeface="Menlo" panose="020B0609030804020204" pitchFamily="49" charset="0"/>
              </a:rPr>
              <a:t>w.record_date</a:t>
            </a:r>
            <a:r>
              <a:rPr lang="en-US" sz="900" b="0" dirty="0">
                <a:effectLst/>
                <a:latin typeface="Menlo" panose="020B0609030804020204" pitchFamily="49" charset="0"/>
              </a:rPr>
              <a:t>)::DATE AS </a:t>
            </a:r>
            <a:r>
              <a:rPr lang="en-US" sz="900" b="0" dirty="0" err="1">
                <a:effectLst/>
                <a:latin typeface="Menlo" panose="020B0609030804020204" pitchFamily="49" charset="0"/>
              </a:rPr>
              <a:t>week_start</a:t>
            </a:r>
            <a:r>
              <a:rPr lang="en-US" sz="900" b="0" dirty="0">
                <a:effectLst/>
                <a:latin typeface="Menlo" panose="020B0609030804020204" pitchFamily="49" charset="0"/>
              </a:rPr>
              <a:t>,</a:t>
            </a:r>
          </a:p>
          <a:p>
            <a:pPr>
              <a:lnSpc>
                <a:spcPts val="1350"/>
              </a:lnSpc>
              <a:buNone/>
            </a:pPr>
            <a:r>
              <a:rPr lang="en-US" sz="900" b="0" dirty="0">
                <a:effectLst/>
                <a:latin typeface="Menlo" panose="020B0609030804020204" pitchFamily="49" charset="0"/>
              </a:rPr>
              <a:t>ROUND(MAX(</a:t>
            </a:r>
            <a:r>
              <a:rPr lang="en-US" sz="900" b="0" dirty="0" err="1">
                <a:effectLst/>
                <a:latin typeface="Menlo" panose="020B0609030804020204" pitchFamily="49" charset="0"/>
              </a:rPr>
              <a:t>w.wind_speed_max_kmh</a:t>
            </a:r>
            <a:r>
              <a:rPr lang="en-US" sz="900" b="0" dirty="0">
                <a:effectLst/>
                <a:latin typeface="Menlo" panose="020B0609030804020204" pitchFamily="49" charset="0"/>
              </a:rPr>
              <a:t>), 2) AS </a:t>
            </a:r>
            <a:r>
              <a:rPr lang="en-US" sz="900" b="0" dirty="0" err="1">
                <a:effectLst/>
                <a:latin typeface="Menlo" panose="020B0609030804020204" pitchFamily="49" charset="0"/>
              </a:rPr>
              <a:t>peak_wind_kmh</a:t>
            </a:r>
            <a:endParaRPr lang="en-US" sz="900" b="0" dirty="0">
              <a:effectLst/>
              <a:latin typeface="Menlo" panose="020B0609030804020204" pitchFamily="49" charset="0"/>
            </a:endParaRPr>
          </a:p>
          <a:p>
            <a:pPr>
              <a:lnSpc>
                <a:spcPts val="1350"/>
              </a:lnSpc>
              <a:buNone/>
            </a:pPr>
            <a:r>
              <a:rPr lang="en-US" sz="900" b="0" dirty="0">
                <a:effectLst/>
                <a:latin typeface="Menlo" panose="020B0609030804020204" pitchFamily="49" charset="0"/>
              </a:rPr>
              <a:t>FROM weather w</a:t>
            </a:r>
          </a:p>
          <a:p>
            <a:pPr>
              <a:lnSpc>
                <a:spcPts val="1350"/>
              </a:lnSpc>
              <a:buNone/>
            </a:pPr>
            <a:r>
              <a:rPr lang="en-US" sz="900" b="0" dirty="0">
                <a:effectLst/>
                <a:latin typeface="Menlo" panose="020B0609030804020204" pitchFamily="49" charset="0"/>
              </a:rPr>
              <a:t>JOIN cities c ON </a:t>
            </a:r>
            <a:r>
              <a:rPr lang="en-US" sz="900" b="0" dirty="0" err="1">
                <a:effectLst/>
                <a:latin typeface="Menlo" panose="020B0609030804020204" pitchFamily="49" charset="0"/>
              </a:rPr>
              <a:t>c.city_id</a:t>
            </a:r>
            <a:r>
              <a:rPr lang="en-US" sz="900" b="0" dirty="0">
                <a:effectLst/>
                <a:latin typeface="Menlo" panose="020B0609030804020204" pitchFamily="49" charset="0"/>
              </a:rPr>
              <a:t> = </a:t>
            </a:r>
            <a:r>
              <a:rPr lang="en-US" sz="900" b="0" dirty="0" err="1">
                <a:effectLst/>
                <a:latin typeface="Menlo" panose="020B0609030804020204" pitchFamily="49" charset="0"/>
              </a:rPr>
              <a:t>w.city_id</a:t>
            </a:r>
            <a:endParaRPr lang="en-US" sz="900" b="0" dirty="0">
              <a:effectLst/>
              <a:latin typeface="Menlo" panose="020B0609030804020204" pitchFamily="49" charset="0"/>
            </a:endParaRPr>
          </a:p>
          <a:p>
            <a:pPr>
              <a:lnSpc>
                <a:spcPts val="1350"/>
              </a:lnSpc>
              <a:buNone/>
            </a:pPr>
            <a:r>
              <a:rPr lang="en-US" sz="900" b="0" dirty="0">
                <a:effectLst/>
                <a:latin typeface="Menlo" panose="020B0609030804020204" pitchFamily="49" charset="0"/>
              </a:rPr>
              <a:t>GROUP BY </a:t>
            </a:r>
            <a:r>
              <a:rPr lang="en-US" sz="900" b="0" dirty="0" err="1">
                <a:effectLst/>
                <a:latin typeface="Menlo" panose="020B0609030804020204" pitchFamily="49" charset="0"/>
              </a:rPr>
              <a:t>c.name</a:t>
            </a:r>
            <a:r>
              <a:rPr lang="en-US" sz="900" b="0" dirty="0">
                <a:effectLst/>
                <a:latin typeface="Menlo" panose="020B0609030804020204" pitchFamily="49" charset="0"/>
              </a:rPr>
              <a:t>, DATE_TRUNC('week', </a:t>
            </a:r>
            <a:r>
              <a:rPr lang="en-US" sz="900" b="0" dirty="0" err="1">
                <a:effectLst/>
                <a:latin typeface="Menlo" panose="020B0609030804020204" pitchFamily="49" charset="0"/>
              </a:rPr>
              <a:t>w.record_date</a:t>
            </a:r>
            <a:r>
              <a:rPr lang="en-US" sz="900" b="0" dirty="0">
                <a:effectLst/>
                <a:latin typeface="Menlo" panose="020B0609030804020204" pitchFamily="49" charset="0"/>
              </a:rPr>
              <a:t>)</a:t>
            </a:r>
          </a:p>
          <a:p>
            <a:pPr>
              <a:lnSpc>
                <a:spcPts val="1350"/>
              </a:lnSpc>
              <a:buNone/>
            </a:pPr>
            <a:r>
              <a:rPr lang="en-US" sz="900" b="0" dirty="0">
                <a:effectLst/>
                <a:latin typeface="Menlo" panose="020B0609030804020204" pitchFamily="49" charset="0"/>
              </a:rPr>
              <a:t>ORDER BY </a:t>
            </a:r>
            <a:r>
              <a:rPr lang="en-US" sz="900" b="0" dirty="0" err="1">
                <a:effectLst/>
                <a:latin typeface="Menlo" panose="020B0609030804020204" pitchFamily="49" charset="0"/>
              </a:rPr>
              <a:t>peak_wind_kmh</a:t>
            </a:r>
            <a:r>
              <a:rPr lang="en-US" sz="900" b="0" dirty="0">
                <a:effectLst/>
                <a:latin typeface="Menlo" panose="020B0609030804020204" pitchFamily="49" charset="0"/>
              </a:rPr>
              <a:t> DESC</a:t>
            </a:r>
          </a:p>
          <a:p>
            <a:pPr>
              <a:lnSpc>
                <a:spcPts val="1350"/>
              </a:lnSpc>
              <a:buNone/>
            </a:pPr>
            <a:r>
              <a:rPr lang="en-US" sz="900" b="0" dirty="0">
                <a:effectLst/>
                <a:latin typeface="Menlo" panose="020B0609030804020204" pitchFamily="49" charset="0"/>
              </a:rPr>
              <a:t>LIMIT 5;</a:t>
            </a:r>
          </a:p>
        </p:txBody>
      </p:sp>
      <p:sp>
        <p:nvSpPr>
          <p:cNvPr id="15" name="TextBox 14">
            <a:extLst>
              <a:ext uri="{FF2B5EF4-FFF2-40B4-BE49-F238E27FC236}">
                <a16:creationId xmlns:a16="http://schemas.microsoft.com/office/drawing/2014/main" id="{3C4DDFB0-86BA-1295-3A48-ABF76FF06A4A}"/>
              </a:ext>
            </a:extLst>
          </p:cNvPr>
          <p:cNvSpPr txBox="1"/>
          <p:nvPr/>
        </p:nvSpPr>
        <p:spPr>
          <a:xfrm>
            <a:off x="7756276" y="2246980"/>
            <a:ext cx="4194587" cy="2792944"/>
          </a:xfrm>
          <a:prstGeom prst="rect">
            <a:avLst/>
          </a:prstGeom>
          <a:noFill/>
        </p:spPr>
        <p:txBody>
          <a:bodyPr wrap="square">
            <a:spAutoFit/>
          </a:bodyPr>
          <a:lstStyle/>
          <a:p>
            <a:r>
              <a:rPr lang="en-US" sz="900" b="1" dirty="0">
                <a:effectLst/>
                <a:latin typeface="Menlo" panose="020B0609030804020204" pitchFamily="49" charset="0"/>
                <a:ea typeface="Menlo" panose="020B0609030804020204" pitchFamily="49" charset="0"/>
                <a:cs typeface="Menlo" panose="020B0609030804020204" pitchFamily="49" charset="0"/>
              </a:rPr>
              <a:t>-- Query 5: Determine frequency of extreme heat days (max </a:t>
            </a:r>
            <a:r>
              <a:rPr lang="en-US" sz="900" dirty="0">
                <a:latin typeface="Menlo" panose="020B0609030804020204" pitchFamily="49" charset="0"/>
                <a:ea typeface="Menlo" panose="020B0609030804020204" pitchFamily="49" charset="0"/>
                <a:cs typeface="Menlo" panose="020B0609030804020204" pitchFamily="49" charset="0"/>
              </a:rPr>
              <a:t>\echo '--------------- Query 5: Frequency of extreme heat (max temp &gt;= 86°C) ---------------\n'</a:t>
            </a:r>
          </a:p>
          <a:p>
            <a:r>
              <a:rPr lang="en-US" sz="900" dirty="0">
                <a:latin typeface="Menlo" panose="020B0609030804020204" pitchFamily="49" charset="0"/>
                <a:ea typeface="Menlo" panose="020B0609030804020204" pitchFamily="49" charset="0"/>
                <a:cs typeface="Menlo" panose="020B0609030804020204" pitchFamily="49" charset="0"/>
              </a:rPr>
              <a:t>\echo ''</a:t>
            </a:r>
          </a:p>
          <a:p>
            <a:r>
              <a:rPr lang="en-US" sz="900" dirty="0">
                <a:latin typeface="Menlo" panose="020B0609030804020204" pitchFamily="49" charset="0"/>
                <a:ea typeface="Menlo" panose="020B0609030804020204" pitchFamily="49" charset="0"/>
                <a:cs typeface="Menlo" panose="020B0609030804020204" pitchFamily="49" charset="0"/>
              </a:rPr>
              <a:t>SELECT</a:t>
            </a:r>
          </a:p>
          <a:p>
            <a:r>
              <a:rPr lang="en-US" sz="900" dirty="0" err="1">
                <a:latin typeface="Menlo" panose="020B0609030804020204" pitchFamily="49" charset="0"/>
                <a:ea typeface="Menlo" panose="020B0609030804020204" pitchFamily="49" charset="0"/>
                <a:cs typeface="Menlo" panose="020B0609030804020204" pitchFamily="49" charset="0"/>
              </a:rPr>
              <a:t>c.name</a:t>
            </a:r>
            <a:r>
              <a:rPr lang="en-US" sz="900" dirty="0">
                <a:latin typeface="Menlo" panose="020B0609030804020204" pitchFamily="49" charset="0"/>
                <a:ea typeface="Menlo" panose="020B0609030804020204" pitchFamily="49" charset="0"/>
                <a:cs typeface="Menlo" panose="020B0609030804020204" pitchFamily="49" charset="0"/>
              </a:rPr>
              <a:t> AS city,</a:t>
            </a:r>
          </a:p>
          <a:p>
            <a:r>
              <a:rPr lang="en-US" sz="900" dirty="0">
                <a:latin typeface="Menlo" panose="020B0609030804020204" pitchFamily="49" charset="0"/>
                <a:ea typeface="Menlo" panose="020B0609030804020204" pitchFamily="49" charset="0"/>
                <a:cs typeface="Menlo" panose="020B0609030804020204" pitchFamily="49" charset="0"/>
              </a:rPr>
              <a:t>COUNT(*) FILTER (WHERE </a:t>
            </a:r>
            <a:r>
              <a:rPr lang="en-US" sz="900" dirty="0" err="1">
                <a:latin typeface="Menlo" panose="020B0609030804020204" pitchFamily="49" charset="0"/>
                <a:ea typeface="Menlo" panose="020B0609030804020204" pitchFamily="49" charset="0"/>
                <a:cs typeface="Menlo" panose="020B0609030804020204" pitchFamily="49" charset="0"/>
              </a:rPr>
              <a:t>w.temp_max_c</a:t>
            </a:r>
            <a:r>
              <a:rPr lang="en-US" sz="900" dirty="0">
                <a:latin typeface="Menlo" panose="020B0609030804020204" pitchFamily="49" charset="0"/>
                <a:ea typeface="Menlo" panose="020B0609030804020204" pitchFamily="49" charset="0"/>
                <a:cs typeface="Menlo" panose="020B0609030804020204" pitchFamily="49" charset="0"/>
              </a:rPr>
              <a:t> &gt;= 30) AS </a:t>
            </a:r>
            <a:r>
              <a:rPr lang="en-US" sz="900" dirty="0" err="1">
                <a:latin typeface="Menlo" panose="020B0609030804020204" pitchFamily="49" charset="0"/>
                <a:ea typeface="Menlo" panose="020B0609030804020204" pitchFamily="49" charset="0"/>
                <a:cs typeface="Menlo" panose="020B0609030804020204" pitchFamily="49" charset="0"/>
              </a:rPr>
              <a:t>hot_days</a:t>
            </a:r>
            <a:r>
              <a:rPr lang="en-US" sz="900" dirty="0">
                <a:latin typeface="Menlo" panose="020B0609030804020204" pitchFamily="49" charset="0"/>
                <a:ea typeface="Menlo" panose="020B0609030804020204" pitchFamily="49" charset="0"/>
                <a:cs typeface="Menlo" panose="020B0609030804020204" pitchFamily="49" charset="0"/>
              </a:rPr>
              <a:t>,</a:t>
            </a:r>
          </a:p>
          <a:p>
            <a:r>
              <a:rPr lang="en-US" sz="900" dirty="0">
                <a:latin typeface="Menlo" panose="020B0609030804020204" pitchFamily="49" charset="0"/>
                <a:ea typeface="Menlo" panose="020B0609030804020204" pitchFamily="49" charset="0"/>
                <a:cs typeface="Menlo" panose="020B0609030804020204" pitchFamily="49" charset="0"/>
              </a:rPr>
              <a:t>COUNT(*) AS </a:t>
            </a:r>
            <a:r>
              <a:rPr lang="en-US" sz="900" dirty="0" err="1">
                <a:latin typeface="Menlo" panose="020B0609030804020204" pitchFamily="49" charset="0"/>
                <a:ea typeface="Menlo" panose="020B0609030804020204" pitchFamily="49" charset="0"/>
                <a:cs typeface="Menlo" panose="020B0609030804020204" pitchFamily="49" charset="0"/>
              </a:rPr>
              <a:t>total_days</a:t>
            </a:r>
            <a:r>
              <a:rPr lang="en-US" sz="900" dirty="0">
                <a:latin typeface="Menlo" panose="020B0609030804020204" pitchFamily="49" charset="0"/>
                <a:ea typeface="Menlo" panose="020B0609030804020204" pitchFamily="49" charset="0"/>
                <a:cs typeface="Menlo" panose="020B0609030804020204" pitchFamily="49" charset="0"/>
              </a:rPr>
              <a:t>,</a:t>
            </a:r>
          </a:p>
          <a:p>
            <a:r>
              <a:rPr lang="en-US" sz="900" dirty="0">
                <a:latin typeface="Menlo" panose="020B0609030804020204" pitchFamily="49" charset="0"/>
                <a:ea typeface="Menlo" panose="020B0609030804020204" pitchFamily="49" charset="0"/>
                <a:cs typeface="Menlo" panose="020B0609030804020204" pitchFamily="49" charset="0"/>
              </a:rPr>
              <a:t>ROUND(</a:t>
            </a:r>
          </a:p>
          <a:p>
            <a:r>
              <a:rPr lang="en-US" sz="900" dirty="0">
                <a:latin typeface="Menlo" panose="020B0609030804020204" pitchFamily="49" charset="0"/>
                <a:ea typeface="Menlo" panose="020B0609030804020204" pitchFamily="49" charset="0"/>
                <a:cs typeface="Menlo" panose="020B0609030804020204" pitchFamily="49" charset="0"/>
              </a:rPr>
              <a:t>100.0 * COUNT(*) FILTER (WHERE </a:t>
            </a:r>
            <a:r>
              <a:rPr lang="en-US" sz="900" dirty="0" err="1">
                <a:latin typeface="Menlo" panose="020B0609030804020204" pitchFamily="49" charset="0"/>
                <a:ea typeface="Menlo" panose="020B0609030804020204" pitchFamily="49" charset="0"/>
                <a:cs typeface="Menlo" panose="020B0609030804020204" pitchFamily="49" charset="0"/>
              </a:rPr>
              <a:t>w.temp_max_c</a:t>
            </a:r>
            <a:r>
              <a:rPr lang="en-US" sz="900" dirty="0">
                <a:latin typeface="Menlo" panose="020B0609030804020204" pitchFamily="49" charset="0"/>
                <a:ea typeface="Menlo" panose="020B0609030804020204" pitchFamily="49" charset="0"/>
                <a:cs typeface="Menlo" panose="020B0609030804020204" pitchFamily="49" charset="0"/>
              </a:rPr>
              <a:t> &gt;= 30) / COUNT(*),</a:t>
            </a:r>
          </a:p>
          <a:p>
            <a:r>
              <a:rPr lang="en-US" sz="900" dirty="0">
                <a:latin typeface="Menlo" panose="020B0609030804020204" pitchFamily="49" charset="0"/>
                <a:ea typeface="Menlo" panose="020B0609030804020204" pitchFamily="49" charset="0"/>
                <a:cs typeface="Menlo" panose="020B0609030804020204" pitchFamily="49" charset="0"/>
              </a:rPr>
              <a:t>1</a:t>
            </a:r>
          </a:p>
          <a:p>
            <a:r>
              <a:rPr lang="en-US" sz="900" dirty="0">
                <a:latin typeface="Menlo" panose="020B0609030804020204" pitchFamily="49" charset="0"/>
                <a:ea typeface="Menlo" panose="020B0609030804020204" pitchFamily="49" charset="0"/>
                <a:cs typeface="Menlo" panose="020B0609030804020204" pitchFamily="49" charset="0"/>
              </a:rPr>
              <a:t>) AS “percentage of hot days”</a:t>
            </a:r>
          </a:p>
          <a:p>
            <a:r>
              <a:rPr lang="en-US" sz="900" dirty="0">
                <a:latin typeface="Menlo" panose="020B0609030804020204" pitchFamily="49" charset="0"/>
                <a:ea typeface="Menlo" panose="020B0609030804020204" pitchFamily="49" charset="0"/>
                <a:cs typeface="Menlo" panose="020B0609030804020204" pitchFamily="49" charset="0"/>
              </a:rPr>
              <a:t>FROM weather w</a:t>
            </a:r>
          </a:p>
          <a:p>
            <a:r>
              <a:rPr lang="en-US" sz="900" dirty="0">
                <a:latin typeface="Menlo" panose="020B0609030804020204" pitchFamily="49" charset="0"/>
                <a:ea typeface="Menlo" panose="020B0609030804020204" pitchFamily="49" charset="0"/>
                <a:cs typeface="Menlo" panose="020B0609030804020204" pitchFamily="49" charset="0"/>
              </a:rPr>
              <a:t>JOIN cities c ON </a:t>
            </a:r>
            <a:r>
              <a:rPr lang="en-US" sz="900" dirty="0" err="1">
                <a:latin typeface="Menlo" panose="020B0609030804020204" pitchFamily="49" charset="0"/>
                <a:ea typeface="Menlo" panose="020B0609030804020204" pitchFamily="49" charset="0"/>
                <a:cs typeface="Menlo" panose="020B0609030804020204" pitchFamily="49" charset="0"/>
              </a:rPr>
              <a:t>c.city_id</a:t>
            </a:r>
            <a:r>
              <a:rPr lang="en-US" sz="900" dirty="0">
                <a:latin typeface="Menlo" panose="020B0609030804020204" pitchFamily="49" charset="0"/>
                <a:ea typeface="Menlo" panose="020B0609030804020204" pitchFamily="49" charset="0"/>
                <a:cs typeface="Menlo" panose="020B0609030804020204" pitchFamily="49" charset="0"/>
              </a:rPr>
              <a:t> = </a:t>
            </a:r>
            <a:r>
              <a:rPr lang="en-US" sz="900" dirty="0" err="1">
                <a:latin typeface="Menlo" panose="020B0609030804020204" pitchFamily="49" charset="0"/>
                <a:ea typeface="Menlo" panose="020B0609030804020204" pitchFamily="49" charset="0"/>
                <a:cs typeface="Menlo" panose="020B0609030804020204" pitchFamily="49" charset="0"/>
              </a:rPr>
              <a:t>w.city_id</a:t>
            </a:r>
            <a:endParaRPr lang="en-US" sz="900" dirty="0">
              <a:latin typeface="Menlo" panose="020B0609030804020204" pitchFamily="49" charset="0"/>
              <a:ea typeface="Menlo" panose="020B0609030804020204" pitchFamily="49" charset="0"/>
              <a:cs typeface="Menlo" panose="020B0609030804020204" pitchFamily="49" charset="0"/>
            </a:endParaRPr>
          </a:p>
          <a:p>
            <a:r>
              <a:rPr lang="en-US" sz="900" dirty="0">
                <a:latin typeface="Menlo" panose="020B0609030804020204" pitchFamily="49" charset="0"/>
                <a:ea typeface="Menlo" panose="020B0609030804020204" pitchFamily="49" charset="0"/>
                <a:cs typeface="Menlo" panose="020B0609030804020204" pitchFamily="49" charset="0"/>
              </a:rPr>
              <a:t>GROUP BY </a:t>
            </a:r>
            <a:r>
              <a:rPr lang="en-US" sz="900" dirty="0" err="1">
                <a:latin typeface="Menlo" panose="020B0609030804020204" pitchFamily="49" charset="0"/>
                <a:ea typeface="Menlo" panose="020B0609030804020204" pitchFamily="49" charset="0"/>
                <a:cs typeface="Menlo" panose="020B0609030804020204" pitchFamily="49" charset="0"/>
              </a:rPr>
              <a:t>c.name</a:t>
            </a:r>
            <a:endParaRPr lang="en-US" sz="900" dirty="0">
              <a:latin typeface="Menlo" panose="020B0609030804020204" pitchFamily="49" charset="0"/>
              <a:ea typeface="Menlo" panose="020B0609030804020204" pitchFamily="49" charset="0"/>
              <a:cs typeface="Menlo" panose="020B0609030804020204" pitchFamily="49" charset="0"/>
            </a:endParaRPr>
          </a:p>
          <a:p>
            <a:r>
              <a:rPr lang="en-US" sz="900" dirty="0">
                <a:latin typeface="Menlo" panose="020B0609030804020204" pitchFamily="49" charset="0"/>
                <a:ea typeface="Menlo" panose="020B0609030804020204" pitchFamily="49" charset="0"/>
                <a:cs typeface="Menlo" panose="020B0609030804020204" pitchFamily="49" charset="0"/>
              </a:rPr>
              <a:t>ORDER BY </a:t>
            </a:r>
            <a:r>
              <a:rPr lang="en-US" sz="900" dirty="0" err="1">
                <a:latin typeface="Menlo" panose="020B0609030804020204" pitchFamily="49" charset="0"/>
                <a:ea typeface="Menlo" panose="020B0609030804020204" pitchFamily="49" charset="0"/>
                <a:cs typeface="Menlo" panose="020B0609030804020204" pitchFamily="49" charset="0"/>
              </a:rPr>
              <a:t>hot_days</a:t>
            </a:r>
            <a:r>
              <a:rPr lang="en-US" sz="900" dirty="0">
                <a:latin typeface="Menlo" panose="020B0609030804020204" pitchFamily="49" charset="0"/>
                <a:ea typeface="Menlo" panose="020B0609030804020204" pitchFamily="49" charset="0"/>
                <a:cs typeface="Menlo" panose="020B0609030804020204" pitchFamily="49" charset="0"/>
              </a:rPr>
              <a:t> DESC;</a:t>
            </a:r>
          </a:p>
          <a:p>
            <a:pPr>
              <a:lnSpc>
                <a:spcPts val="1350"/>
              </a:lnSpc>
              <a:buNone/>
            </a:pPr>
            <a:br>
              <a:rPr lang="en-US" sz="900" b="0" dirty="0">
                <a:effectLst/>
                <a:latin typeface="Menlo" panose="020B0609030804020204" pitchFamily="49" charset="0"/>
              </a:rPr>
            </a:br>
            <a:endParaRPr lang="en-US" sz="900" dirty="0"/>
          </a:p>
        </p:txBody>
      </p:sp>
    </p:spTree>
    <p:extLst>
      <p:ext uri="{BB962C8B-B14F-4D97-AF65-F5344CB8AC3E}">
        <p14:creationId xmlns:p14="http://schemas.microsoft.com/office/powerpoint/2010/main" val="21957461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386</TotalTime>
  <Words>981</Words>
  <Application>Microsoft Macintosh PowerPoint</Application>
  <PresentationFormat>Widescreen</PresentationFormat>
  <Paragraphs>93</Paragraphs>
  <Slides>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vt:i4>
      </vt:variant>
    </vt:vector>
  </HeadingPairs>
  <TitlesOfParts>
    <vt:vector size="13" baseType="lpstr">
      <vt:lpstr>Aptos</vt:lpstr>
      <vt:lpstr>Aptos Display</vt:lpstr>
      <vt:lpstr>Arial</vt:lpstr>
      <vt:lpstr>Avenir Book</vt:lpstr>
      <vt:lpstr>Baloo 2</vt:lpstr>
      <vt:lpstr>Calibri</vt:lpstr>
      <vt:lpstr>Menlo</vt:lpstr>
      <vt:lpstr>Monaco</vt:lpstr>
      <vt:lpstr>Office Theme</vt:lpstr>
      <vt:lpstr>Weather Analytics Platform</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Kyle Drewes</dc:creator>
  <cp:lastModifiedBy>Kyle Drewes</cp:lastModifiedBy>
  <cp:revision>26</cp:revision>
  <dcterms:created xsi:type="dcterms:W3CDTF">2026-07-10T01:23:12Z</dcterms:created>
  <dcterms:modified xsi:type="dcterms:W3CDTF">2026-07-10T16:59:26Z</dcterms:modified>
</cp:coreProperties>
</file>