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1"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48"/>
    <p:restoredTop sz="94658"/>
  </p:normalViewPr>
  <p:slideViewPr>
    <p:cSldViewPr snapToGrid="0">
      <p:cViewPr varScale="1">
        <p:scale>
          <a:sx n="120" d="100"/>
          <a:sy n="120" d="100"/>
        </p:scale>
        <p:origin x="448"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8A877C-2BD7-4379-71F9-5BD20DC04B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5051B2-C84E-ED06-36BA-491BDEE0F4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AFBF31-AC08-52CD-BF40-3D705EA736BD}"/>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607CF822-E25D-8E4F-EB9E-C17D50636C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9DD812-FE48-C909-5DC8-B3A676A106B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47092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63B5B-F54C-24BE-A952-978E6A0D3A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AE283C-4C84-333E-939B-9B2F4071EC3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4DFE51-5B52-CB16-C1A2-FEE9D23E9ABE}"/>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9CE2E43-60FB-6AE3-D629-E146C905B0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B55961-55FF-063E-6AE0-A96D2A50C500}"/>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10588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82E98-B307-5D80-A318-BE844B16EE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6EE17E-8D6A-2582-0127-31F982921D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1A8F2C-4A9B-6B19-A3F6-E7FDEA667325}"/>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B9D0F9D-9DBF-0356-1AA6-D812C9431F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7FADB6-3409-0C5F-5456-AEDD6BB8DE8E}"/>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234710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01B1E-7A58-2793-5968-D5B75966CC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F5F81A-84D5-719F-0419-78ADB49B8CE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303724-B0C6-D2F9-F444-C12C944FC3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C28250-AD12-8A53-7450-9DF9E068E948}"/>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4BAB19F5-AF47-B83A-A3EB-1FC7DF444C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E40155-918A-BF2B-9EDC-C5C81ACAAE2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989847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A7D04-E964-4798-2D75-A0FF9C59861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A72761-5133-070A-95CD-F08418356B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D9D61C-B1D8-D9E5-96E5-5A23CDE0E2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006C47-A45B-9F01-D0D2-9B7E05AE95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D72752-93A5-5894-0DBA-0CE5AB325F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20FBFFA-34BC-A309-80AC-414174A9B527}"/>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8" name="Footer Placeholder 7">
            <a:extLst>
              <a:ext uri="{FF2B5EF4-FFF2-40B4-BE49-F238E27FC236}">
                <a16:creationId xmlns:a16="http://schemas.microsoft.com/office/drawing/2014/main" id="{4533C6E2-CEF8-B4DB-B789-C31D5C0164E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D9A4E36-E57A-6842-0058-C3B4BE9B0BE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491286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F1312-E5CE-6D1D-9552-8EEBBFD055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646ADE-24D8-05A5-6487-9E3298E97DF4}"/>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4" name="Footer Placeholder 3">
            <a:extLst>
              <a:ext uri="{FF2B5EF4-FFF2-40B4-BE49-F238E27FC236}">
                <a16:creationId xmlns:a16="http://schemas.microsoft.com/office/drawing/2014/main" id="{F67B3696-232B-B7B7-9B29-98E42FDE36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0FE96F-4DE2-05B8-3C04-F8E3CBEA891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8911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76BB97-1A6B-EC85-5CC4-F70D38A6BE0E}"/>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3" name="Footer Placeholder 2">
            <a:extLst>
              <a:ext uri="{FF2B5EF4-FFF2-40B4-BE49-F238E27FC236}">
                <a16:creationId xmlns:a16="http://schemas.microsoft.com/office/drawing/2014/main" id="{1A368016-8F00-1211-A247-CCE04845BC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0E4DD8F-20CD-EED1-92E2-96865852A475}"/>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387943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D2E00-0195-65F5-92CC-B63780E13E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404C04B-A0F3-E7A6-796A-C30F8989E5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CA000B-397C-7978-27FC-9FEC1EDFC0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1232A-97AA-17F5-04F2-9CD8F6A1BF7A}"/>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D0A502DD-8643-0EE3-7C2C-7540933BB7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350817-38F3-9561-C083-19EC65B7125B}"/>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951974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E9E60-E218-455F-E4AF-ACFDEF88A4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74E44B-8466-5A99-D030-820F105FD2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0757D6-80DB-ABF8-AE83-7ADB5BA13F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A641C8-3D75-4C5D-3E1B-62FC4CA7C7E3}"/>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A27FE2DE-57AC-2234-0516-4937B80FE2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3BF89D-8F49-2DC4-5CE9-E25C32072A93}"/>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14621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B9F91-0BC7-7E25-7679-3EBB03F435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DEAF226-2ADB-5878-0C68-76D21100BF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B8AD56-5C9C-A61F-984B-B030E81B8AC4}"/>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540302E7-0677-5714-1919-875386A19C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2AE337-728D-7849-B18F-1B5095D24E9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921857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5FACEA-EBD0-3BD6-CB59-7F975F47924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876C917-CAC2-523C-CD78-514C7D9CDD5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18FBD1-7B98-38ED-C7A3-DD082B736372}"/>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47587AB4-54DE-53EE-49C2-48823D33CC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C49E7E-2A54-3031-5F39-63E95257309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2994017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E9999B-A1CE-B377-C28B-1D6350F2008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470D54-C5C6-6451-585D-1FF688E2DE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F3418-3D2A-B503-1C98-0241BA6F0D2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65B08FB-F817-8296-980B-6C2426D10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F7D660A-BD43-D7E0-7531-04DEF1EA8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4DC723-CD67-D849-9829-B36A767BE171}" type="slidenum">
              <a:rPr lang="en-US" smtClean="0"/>
              <a:t>‹#›</a:t>
            </a:fld>
            <a:endParaRPr lang="en-US"/>
          </a:p>
        </p:txBody>
      </p:sp>
    </p:spTree>
    <p:extLst>
      <p:ext uri="{BB962C8B-B14F-4D97-AF65-F5344CB8AC3E}">
        <p14:creationId xmlns:p14="http://schemas.microsoft.com/office/powerpoint/2010/main" val="34493812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989153" cy="12949186"/>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3085874" y="3429000"/>
            <a:ext cx="7389628" cy="1411731"/>
          </a:xfrm>
        </p:spPr>
        <p:txBody>
          <a:bodyPr>
            <a:noAutofit/>
          </a:bodyPr>
          <a:lstStyle/>
          <a:p>
            <a:r>
              <a:rPr lang="en-US" sz="6600" dirty="0">
                <a:latin typeface="Avenir Book" panose="02000503020000020003" pitchFamily="2" charset="0"/>
                <a:ea typeface="Bodoni Ornaments" pitchFamily="2" charset="0"/>
                <a:cs typeface="Calibri" panose="020F0502020204030204" pitchFamily="34" charset="0"/>
              </a:rPr>
              <a:t>Weather Analytics Platform</a:t>
            </a: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Tree>
    <p:extLst>
      <p:ext uri="{BB962C8B-B14F-4D97-AF65-F5344CB8AC3E}">
        <p14:creationId xmlns:p14="http://schemas.microsoft.com/office/powerpoint/2010/main" val="227836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107025"/>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1841156"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About</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665917"/>
            <a:ext cx="11763630" cy="1246495"/>
          </a:xfrm>
          <a:prstGeom prst="rect">
            <a:avLst/>
          </a:prstGeom>
          <a:noFill/>
          <a:ln>
            <a:noFill/>
          </a:ln>
        </p:spPr>
        <p:txBody>
          <a:bodyPr wrap="square">
            <a:spAutoFit/>
          </a:bodyPr>
          <a:lstStyle/>
          <a:p>
            <a:r>
              <a:rPr lang="en-US" sz="1500" dirty="0">
                <a:latin typeface="Avenir Book" panose="02000503020000020003" pitchFamily="2" charset="0"/>
              </a:rPr>
              <a:t>Weather Analysis Platform is an application that analyzes the temperatures of Berkeley, Oakland and San Francisco.  It operates by importing weather data from an opensource weather service: Open Mateo API weather.  Raw data is stored in JSON format located in Data/Raw directory.  From there, the raw is imported to data frame to conduct data wrangling operation.  During this phase, data wrangling operations include removal of duplicates, filling null values, eliminating negative values, and addressing data inconsistencies (example: min &gt; max).  From there, the data is loaded into a Postgres database, allowing user to execute queries for analytical purposes.</a:t>
            </a:r>
          </a:p>
        </p:txBody>
      </p:sp>
      <p:pic>
        <p:nvPicPr>
          <p:cNvPr id="12" name="Picture 11">
            <a:extLst>
              <a:ext uri="{FF2B5EF4-FFF2-40B4-BE49-F238E27FC236}">
                <a16:creationId xmlns:a16="http://schemas.microsoft.com/office/drawing/2014/main" id="{DDE4B786-2230-D3DC-F15E-807859CD24AB}"/>
              </a:ext>
            </a:extLst>
          </p:cNvPr>
          <p:cNvPicPr>
            <a:picLocks noChangeAspect="1"/>
          </p:cNvPicPr>
          <p:nvPr/>
        </p:nvPicPr>
        <p:blipFill>
          <a:blip r:embed="rId3"/>
          <a:stretch>
            <a:fillRect/>
          </a:stretch>
        </p:blipFill>
        <p:spPr>
          <a:xfrm>
            <a:off x="282782" y="2064972"/>
            <a:ext cx="4187051" cy="4127114"/>
          </a:xfrm>
          <a:prstGeom prst="rect">
            <a:avLst/>
          </a:prstGeom>
        </p:spPr>
      </p:pic>
      <p:pic>
        <p:nvPicPr>
          <p:cNvPr id="15" name="Picture 14">
            <a:extLst>
              <a:ext uri="{FF2B5EF4-FFF2-40B4-BE49-F238E27FC236}">
                <a16:creationId xmlns:a16="http://schemas.microsoft.com/office/drawing/2014/main" id="{A6329719-D474-3507-D73D-4F357D41AC2E}"/>
              </a:ext>
            </a:extLst>
          </p:cNvPr>
          <p:cNvPicPr>
            <a:picLocks noChangeAspect="1"/>
          </p:cNvPicPr>
          <p:nvPr/>
        </p:nvPicPr>
        <p:blipFill>
          <a:blip r:embed="rId4"/>
          <a:stretch>
            <a:fillRect/>
          </a:stretch>
        </p:blipFill>
        <p:spPr>
          <a:xfrm>
            <a:off x="4710218" y="2064969"/>
            <a:ext cx="6047766" cy="4127114"/>
          </a:xfrm>
          <a:prstGeom prst="rect">
            <a:avLst/>
          </a:prstGeom>
        </p:spPr>
      </p:pic>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sp>
        <p:nvSpPr>
          <p:cNvPr id="17" name="TextBox 16">
            <a:extLst>
              <a:ext uri="{FF2B5EF4-FFF2-40B4-BE49-F238E27FC236}">
                <a16:creationId xmlns:a16="http://schemas.microsoft.com/office/drawing/2014/main" id="{2339ED2D-B73C-0CA1-1C9C-6252B4500C5C}"/>
              </a:ext>
            </a:extLst>
          </p:cNvPr>
          <p:cNvSpPr txBox="1"/>
          <p:nvPr/>
        </p:nvSpPr>
        <p:spPr>
          <a:xfrm>
            <a:off x="258070" y="6239061"/>
            <a:ext cx="4586967" cy="276999"/>
          </a:xfrm>
          <a:prstGeom prst="rect">
            <a:avLst/>
          </a:prstGeom>
          <a:noFill/>
          <a:ln>
            <a:noFill/>
          </a:ln>
        </p:spPr>
        <p:txBody>
          <a:bodyPr wrap="square">
            <a:spAutoFit/>
          </a:bodyPr>
          <a:lstStyle/>
          <a:p>
            <a:r>
              <a:rPr lang="en-US" sz="1200" dirty="0"/>
              <a:t>Cities include: Berkeley, Oakland &amp; San Francisco</a:t>
            </a:r>
          </a:p>
        </p:txBody>
      </p:sp>
      <p:sp>
        <p:nvSpPr>
          <p:cNvPr id="18" name="TextBox 17">
            <a:extLst>
              <a:ext uri="{FF2B5EF4-FFF2-40B4-BE49-F238E27FC236}">
                <a16:creationId xmlns:a16="http://schemas.microsoft.com/office/drawing/2014/main" id="{FE6390A7-975E-2FCB-C4BD-F8F6BE7AE6D4}"/>
              </a:ext>
            </a:extLst>
          </p:cNvPr>
          <p:cNvSpPr txBox="1"/>
          <p:nvPr/>
        </p:nvSpPr>
        <p:spPr>
          <a:xfrm>
            <a:off x="4595181" y="6227755"/>
            <a:ext cx="6094714" cy="276999"/>
          </a:xfrm>
          <a:prstGeom prst="rect">
            <a:avLst/>
          </a:prstGeom>
          <a:noFill/>
          <a:ln>
            <a:noFill/>
          </a:ln>
        </p:spPr>
        <p:txBody>
          <a:bodyPr wrap="square">
            <a:spAutoFit/>
          </a:bodyPr>
          <a:lstStyle/>
          <a:p>
            <a:r>
              <a:rPr lang="en-US" sz="1200" dirty="0"/>
              <a:t>Produces query parameter (</a:t>
            </a:r>
            <a:r>
              <a:rPr lang="en-US" sz="1200" i="1" dirty="0"/>
              <a:t>params) </a:t>
            </a:r>
            <a:r>
              <a:rPr lang="en-US" sz="1200" dirty="0"/>
              <a:t>and then executes get request to retrieve raw data</a:t>
            </a:r>
          </a:p>
        </p:txBody>
      </p:sp>
    </p:spTree>
    <p:extLst>
      <p:ext uri="{BB962C8B-B14F-4D97-AF65-F5344CB8AC3E}">
        <p14:creationId xmlns:p14="http://schemas.microsoft.com/office/powerpoint/2010/main" val="3809291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Codebase</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701870"/>
            <a:ext cx="11763630" cy="1015663"/>
          </a:xfrm>
          <a:prstGeom prst="rect">
            <a:avLst/>
          </a:prstGeom>
          <a:noFill/>
          <a:ln>
            <a:noFill/>
          </a:ln>
        </p:spPr>
        <p:txBody>
          <a:bodyPr wrap="square">
            <a:spAutoFit/>
          </a:bodyPr>
          <a:lstStyle/>
          <a:p>
            <a:r>
              <a:rPr lang="en-US" sz="1500" dirty="0">
                <a:latin typeface="Baloo 2" panose="03080502040302020200" pitchFamily="66" charset="77"/>
                <a:cs typeface="Baloo 2" panose="03080502040302020200" pitchFamily="66" charset="77"/>
              </a:rPr>
              <a:t>Weather Analysis Platform is an application that imports weather data from an opensource weather service: Open Mateo API weather.  Raw data is stored in JSON format located in /Raw directory.  From there, the raw is imported to data frame to conduct data wrangling operation.  During this phase, data wrangling operations include removal of duplicates, filling null values, eliminating negative values, and addressing data inconsistencies (example: min &gt; max).  From there, data is configured </a:t>
            </a:r>
          </a:p>
        </p:txBody>
      </p:sp>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graphicFrame>
        <p:nvGraphicFramePr>
          <p:cNvPr id="11" name="Table 10">
            <a:extLst>
              <a:ext uri="{FF2B5EF4-FFF2-40B4-BE49-F238E27FC236}">
                <a16:creationId xmlns:a16="http://schemas.microsoft.com/office/drawing/2014/main" id="{DCD09FDA-BB97-4DC5-43EE-30B1E23ADEDE}"/>
              </a:ext>
            </a:extLst>
          </p:cNvPr>
          <p:cNvGraphicFramePr>
            <a:graphicFrameLocks noGrp="1"/>
          </p:cNvGraphicFramePr>
          <p:nvPr>
            <p:extLst>
              <p:ext uri="{D42A27DB-BD31-4B8C-83A1-F6EECF244321}">
                <p14:modId xmlns:p14="http://schemas.microsoft.com/office/powerpoint/2010/main" val="1615813607"/>
              </p:ext>
            </p:extLst>
          </p:nvPr>
        </p:nvGraphicFramePr>
        <p:xfrm>
          <a:off x="2007446" y="2032298"/>
          <a:ext cx="7902451" cy="4396290"/>
        </p:xfrm>
        <a:graphic>
          <a:graphicData uri="http://schemas.openxmlformats.org/drawingml/2006/table">
            <a:tbl>
              <a:tblPr firstRow="1" bandRow="1">
                <a:tableStyleId>{5C22544A-7EE6-4342-B048-85BDC9FD1C3A}</a:tableStyleId>
              </a:tblPr>
              <a:tblGrid>
                <a:gridCol w="1613761">
                  <a:extLst>
                    <a:ext uri="{9D8B030D-6E8A-4147-A177-3AD203B41FA5}">
                      <a16:colId xmlns:a16="http://schemas.microsoft.com/office/drawing/2014/main" val="4044967074"/>
                    </a:ext>
                  </a:extLst>
                </a:gridCol>
                <a:gridCol w="6288690">
                  <a:extLst>
                    <a:ext uri="{9D8B030D-6E8A-4147-A177-3AD203B41FA5}">
                      <a16:colId xmlns:a16="http://schemas.microsoft.com/office/drawing/2014/main" val="2474240830"/>
                    </a:ext>
                  </a:extLst>
                </a:gridCol>
              </a:tblGrid>
              <a:tr h="251534">
                <a:tc>
                  <a:txBody>
                    <a:bodyPr/>
                    <a:lstStyle/>
                    <a:p>
                      <a:pPr algn="ctr"/>
                      <a:r>
                        <a:rPr lang="en-US" sz="1050" dirty="0">
                          <a:solidFill>
                            <a:schemeClr val="tx1"/>
                          </a:solidFill>
                          <a:latin typeface="Monaco" pitchFamily="2" charset="77"/>
                        </a:rPr>
                        <a:t>Files</a:t>
                      </a:r>
                    </a:p>
                  </a:txBody>
                  <a:tcPr>
                    <a:solidFill>
                      <a:schemeClr val="bg1">
                        <a:alpha val="41008"/>
                      </a:schemeClr>
                    </a:solidFill>
                  </a:tcPr>
                </a:tc>
                <a:tc>
                  <a:txBody>
                    <a:bodyPr/>
                    <a:lstStyle/>
                    <a:p>
                      <a:pPr algn="ctr"/>
                      <a:r>
                        <a:rPr lang="en-US" sz="1050" dirty="0">
                          <a:solidFill>
                            <a:schemeClr val="tx1"/>
                          </a:solidFill>
                          <a:latin typeface="Monaco" pitchFamily="2" charset="77"/>
                        </a:rPr>
                        <a:t>Description</a:t>
                      </a:r>
                    </a:p>
                  </a:txBody>
                  <a:tcPr>
                    <a:solidFill>
                      <a:schemeClr val="bg1">
                        <a:alpha val="41008"/>
                      </a:schemeClr>
                    </a:solidFill>
                  </a:tcPr>
                </a:tc>
                <a:extLst>
                  <a:ext uri="{0D108BD9-81ED-4DB2-BD59-A6C34878D82A}">
                    <a16:rowId xmlns:a16="http://schemas.microsoft.com/office/drawing/2014/main" val="3242976173"/>
                  </a:ext>
                </a:extLst>
              </a:tr>
              <a:tr h="503069">
                <a:tc>
                  <a:txBody>
                    <a:bodyPr/>
                    <a:lstStyle/>
                    <a:p>
                      <a:r>
                        <a:rPr lang="en-US" sz="1100" dirty="0" err="1">
                          <a:latin typeface="Avenir Book" panose="02000503020000020003" pitchFamily="2" charset="0"/>
                        </a:rPr>
                        <a:t>Ingest.py</a:t>
                      </a:r>
                      <a:endParaRPr lang="en-US" sz="1100" dirty="0">
                        <a:latin typeface="Avenir Book" panose="02000503020000020003" pitchFamily="2" charset="0"/>
                      </a:endParaRPr>
                    </a:p>
                  </a:txBody>
                  <a:tcPr>
                    <a:solidFill>
                      <a:schemeClr val="bg1">
                        <a:alpha val="53831"/>
                      </a:schemeClr>
                    </a:solidFill>
                  </a:tcPr>
                </a:tc>
                <a:tc>
                  <a:txBody>
                    <a:bodyPr/>
                    <a:lstStyle/>
                    <a:p>
                      <a:r>
                        <a:rPr lang="en-US" sz="1100" dirty="0">
                          <a:latin typeface="Avenir Book" panose="02000503020000020003" pitchFamily="2" charset="0"/>
                        </a:rPr>
                        <a:t>Calls Open-Mateo API for Berkely, Oakland and San Francisco.  Saves raw JSON to Data/Raw directory.</a:t>
                      </a:r>
                    </a:p>
                  </a:txBody>
                  <a:tcPr>
                    <a:solidFill>
                      <a:schemeClr val="bg1">
                        <a:alpha val="53918"/>
                      </a:schemeClr>
                    </a:solidFill>
                  </a:tcPr>
                </a:tc>
                <a:extLst>
                  <a:ext uri="{0D108BD9-81ED-4DB2-BD59-A6C34878D82A}">
                    <a16:rowId xmlns:a16="http://schemas.microsoft.com/office/drawing/2014/main" val="109138727"/>
                  </a:ext>
                </a:extLst>
              </a:tr>
              <a:tr h="83752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Clean.py</a:t>
                      </a:r>
                      <a:endParaRPr lang="en-US" sz="1100" dirty="0">
                        <a:latin typeface="Avenir Book" panose="02000503020000020003" pitchFamily="2" charset="0"/>
                      </a:endParaRPr>
                    </a:p>
                  </a:txBody>
                  <a:tcPr>
                    <a:solidFill>
                      <a:schemeClr val="bg1">
                        <a:alpha val="53831"/>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Avenir Book" panose="02000503020000020003" pitchFamily="2" charset="0"/>
                        </a:rPr>
                        <a:t>Raw Json data is transferred to data frames.  Executes data wrangling operation on data frame for the purpose of revising data.  From there, cleaned data is exported to Data/Processed/</a:t>
                      </a:r>
                      <a:r>
                        <a:rPr lang="en-US" sz="1100" dirty="0" err="1">
                          <a:latin typeface="Avenir Book" panose="02000503020000020003" pitchFamily="2" charset="0"/>
                        </a:rPr>
                        <a:t>weather.csv</a:t>
                      </a:r>
                      <a:endParaRPr lang="en-US" sz="1100" dirty="0">
                        <a:latin typeface="Avenir Book" panose="02000503020000020003" pitchFamily="2" charset="0"/>
                      </a:endParaRPr>
                    </a:p>
                  </a:txBody>
                  <a:tcPr>
                    <a:solidFill>
                      <a:schemeClr val="bg1">
                        <a:alpha val="53918"/>
                      </a:schemeClr>
                    </a:solidFill>
                  </a:tcPr>
                </a:tc>
                <a:extLst>
                  <a:ext uri="{0D108BD9-81ED-4DB2-BD59-A6C34878D82A}">
                    <a16:rowId xmlns:a16="http://schemas.microsoft.com/office/drawing/2014/main" val="2789227809"/>
                  </a:ext>
                </a:extLst>
              </a:tr>
              <a:tr h="35634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Database.py</a:t>
                      </a:r>
                      <a:endParaRPr lang="en-US" sz="1100" dirty="0">
                        <a:latin typeface="Avenir Book" panose="02000503020000020003" pitchFamily="2" charset="0"/>
                      </a:endParaRPr>
                    </a:p>
                  </a:txBody>
                  <a:tcPr>
                    <a:solidFill>
                      <a:schemeClr val="bg1">
                        <a:alpha val="53831"/>
                      </a:schemeClr>
                    </a:solidFill>
                  </a:tcPr>
                </a:tc>
                <a:tc>
                  <a:txBody>
                    <a:bodyPr/>
                    <a:lstStyle/>
                    <a:p>
                      <a:r>
                        <a:rPr lang="en-US" sz="1100" dirty="0">
                          <a:latin typeface="Avenir Book" panose="02000503020000020003" pitchFamily="2" charset="0"/>
                        </a:rPr>
                        <a:t>Establishes DB configuration settings by calling </a:t>
                      </a:r>
                      <a:r>
                        <a:rPr lang="en-US" sz="1100" dirty="0" err="1">
                          <a:latin typeface="Avenir Book" panose="02000503020000020003" pitchFamily="2" charset="0"/>
                        </a:rPr>
                        <a:t>GetConnection</a:t>
                      </a:r>
                      <a:r>
                        <a:rPr lang="en-US" sz="1100" dirty="0">
                          <a:latin typeface="Avenir Book" panose="02000503020000020003" pitchFamily="2" charset="0"/>
                        </a:rPr>
                        <a:t>(), run schema through </a:t>
                      </a:r>
                      <a:r>
                        <a:rPr lang="en-US" sz="1100" dirty="0" err="1">
                          <a:latin typeface="Avenir Book" panose="02000503020000020003" pitchFamily="2" charset="0"/>
                        </a:rPr>
                        <a:t>schema.sql</a:t>
                      </a:r>
                      <a:r>
                        <a:rPr lang="en-US" sz="1100" dirty="0">
                          <a:latin typeface="Avenir Book" panose="02000503020000020003" pitchFamily="2" charset="0"/>
                        </a:rPr>
                        <a:t> and test connection to ensure application can </a:t>
                      </a:r>
                      <a:r>
                        <a:rPr lang="en-US" sz="1100" dirty="0" err="1">
                          <a:latin typeface="Avenir Book" panose="02000503020000020003" pitchFamily="2" charset="0"/>
                        </a:rPr>
                        <a:t>connecton</a:t>
                      </a:r>
                      <a:r>
                        <a:rPr lang="en-US" sz="1100" dirty="0">
                          <a:latin typeface="Avenir Book" panose="02000503020000020003" pitchFamily="2" charset="0"/>
                        </a:rPr>
                        <a:t> to </a:t>
                      </a:r>
                      <a:r>
                        <a:rPr lang="en-US" sz="1100" dirty="0" err="1">
                          <a:latin typeface="Avenir Book" panose="02000503020000020003" pitchFamily="2" charset="0"/>
                        </a:rPr>
                        <a:t>PostgreeSQL</a:t>
                      </a:r>
                      <a:endParaRPr lang="en-US" sz="1100" dirty="0">
                        <a:latin typeface="Avenir Book" panose="02000503020000020003" pitchFamily="2" charset="0"/>
                      </a:endParaRPr>
                    </a:p>
                  </a:txBody>
                  <a:tcPr>
                    <a:solidFill>
                      <a:schemeClr val="bg1">
                        <a:alpha val="53918"/>
                      </a:schemeClr>
                    </a:solidFill>
                  </a:tcPr>
                </a:tc>
                <a:extLst>
                  <a:ext uri="{0D108BD9-81ED-4DB2-BD59-A6C34878D82A}">
                    <a16:rowId xmlns:a16="http://schemas.microsoft.com/office/drawing/2014/main" val="498984886"/>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Dao.py</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Exports </a:t>
                      </a:r>
                      <a:r>
                        <a:rPr lang="en-US" sz="1100" dirty="0" err="1">
                          <a:latin typeface="Avenir Book" panose="02000503020000020003" pitchFamily="2" charset="0"/>
                        </a:rPr>
                        <a:t>weather.csv</a:t>
                      </a:r>
                      <a:r>
                        <a:rPr lang="en-US" sz="1100" dirty="0">
                          <a:latin typeface="Avenir Book" panose="02000503020000020003" pitchFamily="2" charset="0"/>
                        </a:rPr>
                        <a:t> into Postgres and inserts data frame information into its corresponding tables</a:t>
                      </a:r>
                    </a:p>
                  </a:txBody>
                  <a:tcPr>
                    <a:solidFill>
                      <a:schemeClr val="bg1">
                        <a:alpha val="53918"/>
                      </a:schemeClr>
                    </a:solidFill>
                  </a:tcPr>
                </a:tc>
                <a:extLst>
                  <a:ext uri="{0D108BD9-81ED-4DB2-BD59-A6C34878D82A}">
                    <a16:rowId xmlns:a16="http://schemas.microsoft.com/office/drawing/2014/main" val="2712864909"/>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main.py</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Calls schema file</a:t>
                      </a:r>
                    </a:p>
                  </a:txBody>
                  <a:tcPr>
                    <a:solidFill>
                      <a:schemeClr val="bg1">
                        <a:alpha val="53918"/>
                      </a:schemeClr>
                    </a:solidFill>
                  </a:tcPr>
                </a:tc>
                <a:extLst>
                  <a:ext uri="{0D108BD9-81ED-4DB2-BD59-A6C34878D82A}">
                    <a16:rowId xmlns:a16="http://schemas.microsoft.com/office/drawing/2014/main" val="192270745"/>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scehma.sql</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Creates cities and weather table using DDL logic</a:t>
                      </a:r>
                    </a:p>
                  </a:txBody>
                  <a:tcPr>
                    <a:solidFill>
                      <a:schemeClr val="bg1">
                        <a:alpha val="53722"/>
                      </a:schemeClr>
                    </a:solidFill>
                  </a:tcPr>
                </a:tc>
                <a:extLst>
                  <a:ext uri="{0D108BD9-81ED-4DB2-BD59-A6C34878D82A}">
                    <a16:rowId xmlns:a16="http://schemas.microsoft.com/office/drawing/2014/main" val="3400053297"/>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queries.sql</a:t>
                      </a:r>
                      <a:endParaRPr lang="en-US" sz="1100" dirty="0">
                        <a:latin typeface="Avenir Book" panose="02000503020000020003" pitchFamily="2" charset="0"/>
                      </a:endParaRPr>
                    </a:p>
                    <a:p>
                      <a:endParaRPr lang="en-US" sz="1100" dirty="0"/>
                    </a:p>
                  </a:txBody>
                  <a:tcPr>
                    <a:solidFill>
                      <a:schemeClr val="bg1">
                        <a:alpha val="53922"/>
                      </a:schemeClr>
                    </a:solidFill>
                  </a:tcPr>
                </a:tc>
                <a:tc>
                  <a:txBody>
                    <a:bodyPr/>
                    <a:lstStyle/>
                    <a:p>
                      <a:r>
                        <a:rPr lang="en-US" sz="1100" dirty="0">
                          <a:latin typeface="Avenir Book" panose="02000503020000020003" pitchFamily="2" charset="0"/>
                        </a:rPr>
                        <a:t>Produces 5 queries:  </a:t>
                      </a:r>
                    </a:p>
                    <a:p>
                      <a:r>
                        <a:rPr lang="en-US" sz="1100" dirty="0">
                          <a:latin typeface="Avenir Book" panose="02000503020000020003" pitchFamily="2" charset="0"/>
                        </a:rPr>
                        <a:t>• Hottest day of year per city</a:t>
                      </a:r>
                    </a:p>
                    <a:p>
                      <a:r>
                        <a:rPr lang="en-US" sz="1100" dirty="0">
                          <a:latin typeface="Avenir Book" panose="02000503020000020003" pitchFamily="2" charset="0"/>
                        </a:rPr>
                        <a:t>• Average rainfall</a:t>
                      </a:r>
                    </a:p>
                    <a:p>
                      <a:r>
                        <a:rPr lang="en-US" sz="1100" dirty="0">
                          <a:latin typeface="Avenir Book" panose="02000503020000020003" pitchFamily="2" charset="0"/>
                        </a:rPr>
                        <a:t>• Monthly precipitation</a:t>
                      </a:r>
                    </a:p>
                    <a:p>
                      <a:r>
                        <a:rPr lang="en-US" sz="1100" dirty="0">
                          <a:latin typeface="Avenir Book" panose="02000503020000020003" pitchFamily="2" charset="0"/>
                        </a:rPr>
                        <a:t>• Determine peak wind per week for each city</a:t>
                      </a:r>
                    </a:p>
                    <a:p>
                      <a:r>
                        <a:rPr lang="en-US" sz="1100" dirty="0">
                          <a:latin typeface="Avenir Book" panose="02000503020000020003" pitchFamily="2" charset="0"/>
                        </a:rPr>
                        <a:t>• Frequency of extreme heat days over 86 degree Fahrenheit </a:t>
                      </a:r>
                    </a:p>
                  </a:txBody>
                  <a:tcPr>
                    <a:solidFill>
                      <a:schemeClr val="bg1">
                        <a:alpha val="54332"/>
                      </a:schemeClr>
                    </a:solidFill>
                  </a:tcPr>
                </a:tc>
                <a:extLst>
                  <a:ext uri="{0D108BD9-81ED-4DB2-BD59-A6C34878D82A}">
                    <a16:rowId xmlns:a16="http://schemas.microsoft.com/office/drawing/2014/main" val="142926702"/>
                  </a:ext>
                </a:extLst>
              </a:tr>
            </a:tbl>
          </a:graphicData>
        </a:graphic>
      </p:graphicFrame>
    </p:spTree>
    <p:extLst>
      <p:ext uri="{BB962C8B-B14F-4D97-AF65-F5344CB8AC3E}">
        <p14:creationId xmlns:p14="http://schemas.microsoft.com/office/powerpoint/2010/main" val="54324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61785" y="-82910"/>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Queries</a:t>
            </a:r>
            <a:endParaRPr lang="en-US" sz="4400" dirty="0"/>
          </a:p>
        </p:txBody>
      </p:sp>
      <p:sp>
        <p:nvSpPr>
          <p:cNvPr id="5" name="TextBox 4">
            <a:extLst>
              <a:ext uri="{FF2B5EF4-FFF2-40B4-BE49-F238E27FC236}">
                <a16:creationId xmlns:a16="http://schemas.microsoft.com/office/drawing/2014/main" id="{2CEE8899-D776-1DBB-5792-EFAC7D7FF593}"/>
              </a:ext>
            </a:extLst>
          </p:cNvPr>
          <p:cNvSpPr txBox="1"/>
          <p:nvPr/>
        </p:nvSpPr>
        <p:spPr>
          <a:xfrm>
            <a:off x="123570" y="733342"/>
            <a:ext cx="10909300" cy="1384995"/>
          </a:xfrm>
          <a:prstGeom prst="rect">
            <a:avLst/>
          </a:prstGeom>
          <a:noFill/>
        </p:spPr>
        <p:txBody>
          <a:bodyPr wrap="square">
            <a:spAutoFit/>
          </a:bodyPr>
          <a:lstStyle/>
          <a:p>
            <a:pPr marL="0" marR="0">
              <a:buNone/>
            </a:pPr>
            <a:r>
              <a:rPr lang="en-US" sz="1200" dirty="0">
                <a:effectLst/>
                <a:latin typeface="Avenir Book" panose="02000503020000020003" pitchFamily="2" charset="0"/>
              </a:rPr>
              <a:t>Five SQL queries in `</a:t>
            </a:r>
            <a:r>
              <a:rPr lang="en-US" sz="1200" dirty="0" err="1">
                <a:effectLst/>
                <a:latin typeface="Avenir Book" panose="02000503020000020003" pitchFamily="2" charset="0"/>
              </a:rPr>
              <a:t>queries.sql</a:t>
            </a:r>
            <a:r>
              <a:rPr lang="en-US" sz="1200" dirty="0">
                <a:effectLst/>
                <a:latin typeface="Avenir Book" panose="02000503020000020003" pitchFamily="2" charset="0"/>
              </a:rPr>
              <a:t>` perform operations such as:</a:t>
            </a:r>
          </a:p>
          <a:p>
            <a:pPr marL="0" marR="0">
              <a:buNone/>
            </a:pPr>
            <a:endParaRPr lang="en-US" sz="1200" dirty="0">
              <a:effectLst/>
              <a:latin typeface="Avenir Book" panose="02000503020000020003" pitchFamily="2" charset="0"/>
            </a:endParaRPr>
          </a:p>
          <a:p>
            <a:pPr marL="0" marR="0">
              <a:buNone/>
            </a:pPr>
            <a:r>
              <a:rPr lang="en-US" sz="1200" dirty="0">
                <a:effectLst/>
                <a:latin typeface="Avenir Book" panose="02000503020000020003" pitchFamily="2" charset="0"/>
              </a:rPr>
              <a:t>• Hottest day of the year per city</a:t>
            </a:r>
          </a:p>
          <a:p>
            <a:pPr marL="0" marR="0">
              <a:buNone/>
            </a:pPr>
            <a:r>
              <a:rPr lang="en-US" sz="1200" dirty="0">
                <a:effectLst/>
                <a:latin typeface="Avenir Book" panose="02000503020000020003" pitchFamily="2" charset="0"/>
              </a:rPr>
              <a:t>• Average rainfall, </a:t>
            </a:r>
          </a:p>
          <a:p>
            <a:pPr marL="0" marR="0">
              <a:buNone/>
            </a:pPr>
            <a:r>
              <a:rPr lang="en-US" sz="1200" dirty="0">
                <a:effectLst/>
                <a:latin typeface="Avenir Book" panose="02000503020000020003" pitchFamily="2" charset="0"/>
              </a:rPr>
              <a:t>• Monthly precipitation, </a:t>
            </a:r>
          </a:p>
          <a:p>
            <a:pPr marL="0" marR="0">
              <a:buNone/>
            </a:pPr>
            <a:r>
              <a:rPr lang="en-US" sz="1200" dirty="0">
                <a:effectLst/>
                <a:latin typeface="Avenir Book" panose="02000503020000020003" pitchFamily="2" charset="0"/>
              </a:rPr>
              <a:t>• Windiest weeks,</a:t>
            </a:r>
          </a:p>
          <a:p>
            <a:pPr marL="0" marR="0">
              <a:buNone/>
            </a:pPr>
            <a:r>
              <a:rPr lang="en-US" sz="1200" dirty="0">
                <a:effectLst/>
                <a:latin typeface="Avenir Book" panose="02000503020000020003" pitchFamily="2" charset="0"/>
              </a:rPr>
              <a:t>• Frequency of extreme heat days over 88 degree Fahrenheit.</a:t>
            </a:r>
          </a:p>
        </p:txBody>
      </p:sp>
      <p:sp>
        <p:nvSpPr>
          <p:cNvPr id="4" name="Rectangle 3">
            <a:extLst>
              <a:ext uri="{FF2B5EF4-FFF2-40B4-BE49-F238E27FC236}">
                <a16:creationId xmlns:a16="http://schemas.microsoft.com/office/drawing/2014/main" id="{E16EDCD1-0A13-FE1B-921F-38FA27FAD6B2}"/>
              </a:ext>
            </a:extLst>
          </p:cNvPr>
          <p:cNvSpPr/>
          <p:nvPr/>
        </p:nvSpPr>
        <p:spPr>
          <a:xfrm>
            <a:off x="78378" y="2201247"/>
            <a:ext cx="11993526" cy="4017031"/>
          </a:xfrm>
          <a:prstGeom prst="rect">
            <a:avLst/>
          </a:prstGeom>
          <a:solidFill>
            <a:schemeClr val="bg1">
              <a:alpha val="6159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90F4F83-4963-FB85-6D5C-99F2767D49A3}"/>
              </a:ext>
            </a:extLst>
          </p:cNvPr>
          <p:cNvSpPr txBox="1"/>
          <p:nvPr/>
        </p:nvSpPr>
        <p:spPr>
          <a:xfrm>
            <a:off x="120096" y="1948519"/>
            <a:ext cx="10376263" cy="4830618"/>
          </a:xfrm>
          <a:prstGeom prst="rect">
            <a:avLst/>
          </a:prstGeom>
          <a:noFill/>
        </p:spPr>
        <p:txBody>
          <a:bodyPr wrap="square">
            <a:spAutoFit/>
          </a:bodyPr>
          <a:lstStyle/>
          <a:p>
            <a:pPr>
              <a:lnSpc>
                <a:spcPts val="1350"/>
              </a:lnSpc>
              <a:buNone/>
            </a:pPr>
            <a:br>
              <a:rPr lang="en-US" sz="900" b="0" dirty="0">
                <a:solidFill>
                  <a:srgbClr val="CCCCCC"/>
                </a:solidFill>
                <a:effectLst/>
                <a:latin typeface="Menlo" panose="020B0609030804020204" pitchFamily="49" charset="0"/>
              </a:rPr>
            </a:br>
            <a:endParaRPr lang="en-US" sz="900" b="0" dirty="0">
              <a:effectLst/>
              <a:latin typeface="Menlo" panose="020B0609030804020204" pitchFamily="49" charset="0"/>
            </a:endParaRPr>
          </a:p>
          <a:p>
            <a:pPr>
              <a:lnSpc>
                <a:spcPts val="1350"/>
              </a:lnSpc>
              <a:buNone/>
            </a:pPr>
            <a:r>
              <a:rPr lang="en-US" sz="900" b="1" dirty="0">
                <a:effectLst/>
                <a:latin typeface="Menlo" panose="020B0609030804020204" pitchFamily="49" charset="0"/>
                <a:ea typeface="Menlo" panose="020B0609030804020204" pitchFamily="49" charset="0"/>
                <a:cs typeface="Menlo" panose="020B0609030804020204" pitchFamily="49" charset="0"/>
              </a:rPr>
              <a:t>-- Query 1: Find the highest temperature per city</a:t>
            </a:r>
          </a:p>
          <a:p>
            <a:r>
              <a:rPr lang="en-US" sz="900" dirty="0">
                <a:latin typeface="Menlo" panose="020B0609030804020204" pitchFamily="49" charset="0"/>
                <a:ea typeface="Menlo" panose="020B0609030804020204" pitchFamily="49" charset="0"/>
                <a:cs typeface="Menlo" panose="020B0609030804020204" pitchFamily="49" charset="0"/>
              </a:rPr>
              <a:t>SELECT DISTINCT ON (</a:t>
            </a:r>
            <a:r>
              <a:rPr lang="en-US" sz="900" dirty="0" err="1">
                <a:latin typeface="Menlo" panose="020B0609030804020204" pitchFamily="49" charset="0"/>
                <a:ea typeface="Menlo" panose="020B0609030804020204" pitchFamily="49" charset="0"/>
                <a:cs typeface="Menlo" panose="020B0609030804020204" pitchFamily="49" charset="0"/>
              </a:rPr>
              <a:t>c.city_id</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err="1">
                <a:latin typeface="Menlo" panose="020B0609030804020204" pitchFamily="49" charset="0"/>
                <a:ea typeface="Menlo" panose="020B0609030804020204" pitchFamily="49" charset="0"/>
                <a:cs typeface="Menlo" panose="020B0609030804020204" pitchFamily="49" charset="0"/>
              </a:rPr>
              <a:t>c.name</a:t>
            </a:r>
            <a:r>
              <a:rPr lang="en-US" sz="900" dirty="0">
                <a:latin typeface="Menlo" panose="020B0609030804020204" pitchFamily="49" charset="0"/>
                <a:ea typeface="Menlo" panose="020B0609030804020204" pitchFamily="49" charset="0"/>
                <a:cs typeface="Menlo" panose="020B0609030804020204" pitchFamily="49" charset="0"/>
              </a:rPr>
              <a:t> AS city,</a:t>
            </a:r>
          </a:p>
          <a:p>
            <a:r>
              <a:rPr lang="en-US" sz="900" dirty="0" err="1">
                <a:latin typeface="Menlo" panose="020B0609030804020204" pitchFamily="49" charset="0"/>
                <a:ea typeface="Menlo" panose="020B0609030804020204" pitchFamily="49" charset="0"/>
                <a:cs typeface="Menlo" panose="020B0609030804020204" pitchFamily="49" charset="0"/>
              </a:rPr>
              <a:t>w.record_date</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AS “hottest max temp (</a:t>
            </a:r>
            <a:r>
              <a:rPr lang="en-US" sz="900" dirty="0" err="1">
                <a:latin typeface="Menlo" panose="020B0609030804020204" pitchFamily="49" charset="0"/>
                <a:ea typeface="Menlo" panose="020B0609030804020204" pitchFamily="49" charset="0"/>
                <a:cs typeface="Menlo" panose="020B0609030804020204" pitchFamily="49" charset="0"/>
              </a:rPr>
              <a:t>celsius</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ROUND((</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 9.0 / 5.0) + 32, 2) </a:t>
            </a:r>
          </a:p>
          <a:p>
            <a:r>
              <a:rPr lang="en-US" sz="900" dirty="0">
                <a:latin typeface="Menlo" panose="020B0609030804020204" pitchFamily="49" charset="0"/>
                <a:ea typeface="Menlo" panose="020B0609030804020204" pitchFamily="49" charset="0"/>
                <a:cs typeface="Menlo" panose="020B0609030804020204" pitchFamily="49" charset="0"/>
              </a:rPr>
              <a:t>AS “hottest max temp (</a:t>
            </a:r>
            <a:r>
              <a:rPr lang="en-US" sz="900" dirty="0" err="1">
                <a:latin typeface="Menlo" panose="020B0609030804020204" pitchFamily="49" charset="0"/>
                <a:ea typeface="Menlo" panose="020B0609030804020204" pitchFamily="49" charset="0"/>
                <a:cs typeface="Menlo" panose="020B0609030804020204" pitchFamily="49" charset="0"/>
              </a:rPr>
              <a:t>fahrenheit</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FROM weather w</a:t>
            </a:r>
          </a:p>
          <a:p>
            <a:r>
              <a:rPr lang="en-US" sz="900" dirty="0">
                <a:latin typeface="Menlo" panose="020B0609030804020204" pitchFamily="49" charset="0"/>
                <a:ea typeface="Menlo" panose="020B0609030804020204" pitchFamily="49" charset="0"/>
                <a:cs typeface="Menlo" panose="020B0609030804020204" pitchFamily="49" charset="0"/>
              </a:rPr>
              <a:t>JOIN cities c ON </a:t>
            </a:r>
            <a:r>
              <a:rPr lang="en-US" sz="900" dirty="0" err="1">
                <a:latin typeface="Menlo" panose="020B0609030804020204" pitchFamily="49" charset="0"/>
                <a:ea typeface="Menlo" panose="020B0609030804020204" pitchFamily="49" charset="0"/>
                <a:cs typeface="Menlo" panose="020B0609030804020204" pitchFamily="49" charset="0"/>
              </a:rPr>
              <a:t>c.city_id</a:t>
            </a:r>
            <a:r>
              <a:rPr lang="en-US" sz="900" dirty="0">
                <a:latin typeface="Menlo" panose="020B0609030804020204" pitchFamily="49" charset="0"/>
                <a:ea typeface="Menlo" panose="020B0609030804020204" pitchFamily="49" charset="0"/>
                <a:cs typeface="Menlo" panose="020B0609030804020204" pitchFamily="49" charset="0"/>
              </a:rPr>
              <a:t> = </a:t>
            </a:r>
            <a:r>
              <a:rPr lang="en-US" sz="900" dirty="0" err="1">
                <a:latin typeface="Menlo" panose="020B0609030804020204" pitchFamily="49" charset="0"/>
                <a:ea typeface="Menlo" panose="020B0609030804020204" pitchFamily="49" charset="0"/>
                <a:cs typeface="Menlo" panose="020B0609030804020204" pitchFamily="49" charset="0"/>
              </a:rPr>
              <a:t>w.city_id</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ORDER BY </a:t>
            </a:r>
            <a:r>
              <a:rPr lang="en-US" sz="900" dirty="0" err="1">
                <a:latin typeface="Menlo" panose="020B0609030804020204" pitchFamily="49" charset="0"/>
                <a:ea typeface="Menlo" panose="020B0609030804020204" pitchFamily="49" charset="0"/>
                <a:cs typeface="Menlo" panose="020B0609030804020204" pitchFamily="49" charset="0"/>
              </a:rPr>
              <a:t>c.city_id</a:t>
            </a:r>
            <a:r>
              <a:rPr lang="en-US" sz="900" dirty="0">
                <a:latin typeface="Menlo" panose="020B0609030804020204" pitchFamily="49" charset="0"/>
                <a:ea typeface="Menlo" panose="020B0609030804020204" pitchFamily="49" charset="0"/>
                <a:cs typeface="Menlo" panose="020B0609030804020204" pitchFamily="49" charset="0"/>
              </a:rPr>
              <a:t>, </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DESC, </a:t>
            </a:r>
            <a:r>
              <a:rPr lang="en-US" sz="900" dirty="0" err="1">
                <a:latin typeface="Menlo" panose="020B0609030804020204" pitchFamily="49" charset="0"/>
                <a:ea typeface="Menlo" panose="020B0609030804020204" pitchFamily="49" charset="0"/>
                <a:cs typeface="Menlo" panose="020B0609030804020204" pitchFamily="49" charset="0"/>
              </a:rPr>
              <a:t>w.record_date</a:t>
            </a:r>
            <a:r>
              <a:rPr lang="en-US" sz="900" dirty="0">
                <a:latin typeface="Menlo" panose="020B0609030804020204" pitchFamily="49" charset="0"/>
                <a:ea typeface="Menlo" panose="020B0609030804020204" pitchFamily="49" charset="0"/>
                <a:cs typeface="Menlo" panose="020B0609030804020204" pitchFamily="49" charset="0"/>
              </a:rPr>
              <a:t>;</a:t>
            </a:r>
            <a:br>
              <a:rPr lang="en-US" sz="900" b="0" dirty="0">
                <a:solidFill>
                  <a:srgbClr val="CCCCCC"/>
                </a:solidFill>
                <a:effectLst/>
                <a:latin typeface="Menlo" panose="020B0609030804020204" pitchFamily="49" charset="0"/>
                <a:ea typeface="Menlo" panose="020B0609030804020204" pitchFamily="49" charset="0"/>
                <a:cs typeface="Menlo" panose="020B0609030804020204" pitchFamily="49" charset="0"/>
              </a:rPr>
            </a:br>
            <a:endParaRPr lang="en-US" sz="900" b="0" dirty="0">
              <a:solidFill>
                <a:srgbClr val="CCCCCC"/>
              </a:solidFill>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b="1" dirty="0">
                <a:effectLst/>
                <a:latin typeface="Menlo" panose="020B0609030804020204" pitchFamily="49" charset="0"/>
                <a:ea typeface="Menlo" panose="020B0609030804020204" pitchFamily="49" charset="0"/>
                <a:cs typeface="Menlo" panose="020B0609030804020204" pitchFamily="49" charset="0"/>
              </a:rPr>
              <a:t>-- Determine average rainfall per city</a:t>
            </a:r>
          </a:p>
          <a:p>
            <a:pPr>
              <a:lnSpc>
                <a:spcPts val="1350"/>
              </a:lnSpc>
              <a:buNone/>
            </a:pPr>
            <a:r>
              <a:rPr lang="en-US" sz="900" b="0" dirty="0">
                <a:effectLst/>
                <a:latin typeface="Menlo" panose="020B0609030804020204" pitchFamily="49" charset="0"/>
                <a:ea typeface="Menlo" panose="020B0609030804020204" pitchFamily="49" charset="0"/>
                <a:cs typeface="Menlo" panose="020B0609030804020204" pitchFamily="49" charset="0"/>
              </a:rPr>
              <a:t>SELECT</a:t>
            </a:r>
          </a:p>
          <a:p>
            <a:pPr>
              <a:lnSpc>
                <a:spcPts val="1350"/>
              </a:lnSpc>
              <a:buNone/>
            </a:pPr>
            <a:r>
              <a:rPr lang="en-US" sz="900" b="0" dirty="0" err="1">
                <a:effectLst/>
                <a:latin typeface="Menlo" panose="020B0609030804020204" pitchFamily="49" charset="0"/>
                <a:ea typeface="Menlo" panose="020B0609030804020204" pitchFamily="49" charset="0"/>
                <a:cs typeface="Menlo" panose="020B0609030804020204" pitchFamily="49" charset="0"/>
              </a:rPr>
              <a:t>c.name</a:t>
            </a:r>
            <a:r>
              <a:rPr lang="en-US" sz="900" b="0" dirty="0">
                <a:effectLst/>
                <a:latin typeface="Menlo" panose="020B0609030804020204" pitchFamily="49" charset="0"/>
                <a:ea typeface="Menlo" panose="020B0609030804020204" pitchFamily="49" charset="0"/>
                <a:cs typeface="Menlo" panose="020B0609030804020204" pitchFamily="49" charset="0"/>
              </a:rPr>
              <a:t> AS city,</a:t>
            </a:r>
          </a:p>
          <a:p>
            <a:pPr>
              <a:lnSpc>
                <a:spcPts val="1350"/>
              </a:lnSpc>
              <a:buNone/>
            </a:pPr>
            <a:r>
              <a:rPr lang="en-US" sz="900" b="0" dirty="0">
                <a:effectLst/>
                <a:latin typeface="Menlo" panose="020B0609030804020204" pitchFamily="49" charset="0"/>
                <a:ea typeface="Menlo" panose="020B0609030804020204" pitchFamily="49" charset="0"/>
                <a:cs typeface="Menlo" panose="020B0609030804020204" pitchFamily="49" charset="0"/>
              </a:rPr>
              <a:t>ROUND(AVG(</a:t>
            </a:r>
            <a:r>
              <a:rPr lang="en-US" sz="900" b="0" dirty="0" err="1">
                <a:effectLst/>
                <a:latin typeface="Menlo" panose="020B0609030804020204" pitchFamily="49" charset="0"/>
                <a:ea typeface="Menlo" panose="020B0609030804020204" pitchFamily="49" charset="0"/>
                <a:cs typeface="Menlo" panose="020B0609030804020204" pitchFamily="49" charset="0"/>
              </a:rPr>
              <a:t>w.rain_mm</a:t>
            </a:r>
            <a:r>
              <a:rPr lang="en-US" sz="900" b="0" dirty="0">
                <a:effectLst/>
                <a:latin typeface="Menlo" panose="020B0609030804020204" pitchFamily="49" charset="0"/>
                <a:ea typeface="Menlo" panose="020B0609030804020204" pitchFamily="49" charset="0"/>
                <a:cs typeface="Menlo" panose="020B0609030804020204" pitchFamily="49" charset="0"/>
              </a:rPr>
              <a:t>), 2) AS </a:t>
            </a:r>
            <a:r>
              <a:rPr lang="en-US" sz="900" b="0" dirty="0" err="1">
                <a:effectLst/>
                <a:latin typeface="Menlo" panose="020B0609030804020204" pitchFamily="49" charset="0"/>
                <a:ea typeface="Menlo" panose="020B0609030804020204" pitchFamily="49" charset="0"/>
                <a:cs typeface="Menlo" panose="020B0609030804020204" pitchFamily="49" charset="0"/>
              </a:rPr>
              <a:t>average_rain</a:t>
            </a:r>
            <a:r>
              <a:rPr lang="en-US" sz="900" b="0" dirty="0">
                <a:effectLst/>
                <a:latin typeface="Menlo" panose="020B0609030804020204" pitchFamily="49" charset="0"/>
                <a:ea typeface="Menlo" panose="020B0609030804020204" pitchFamily="49" charset="0"/>
                <a:cs typeface="Menlo" panose="020B0609030804020204" pitchFamily="49" charset="0"/>
              </a:rPr>
              <a:t>,</a:t>
            </a:r>
          </a:p>
          <a:p>
            <a:pPr>
              <a:lnSpc>
                <a:spcPts val="1350"/>
              </a:lnSpc>
              <a:buNone/>
            </a:pPr>
            <a:r>
              <a:rPr lang="en-US" sz="900" b="0" dirty="0">
                <a:effectLst/>
                <a:latin typeface="Menlo" panose="020B0609030804020204" pitchFamily="49" charset="0"/>
                <a:ea typeface="Menlo" panose="020B0609030804020204" pitchFamily="49" charset="0"/>
                <a:cs typeface="Menlo" panose="020B0609030804020204" pitchFamily="49" charset="0"/>
              </a:rPr>
              <a:t>ROUND(SUM(</a:t>
            </a:r>
            <a:r>
              <a:rPr lang="en-US" sz="900" b="0" dirty="0" err="1">
                <a:effectLst/>
                <a:latin typeface="Menlo" panose="020B0609030804020204" pitchFamily="49" charset="0"/>
                <a:ea typeface="Menlo" panose="020B0609030804020204" pitchFamily="49" charset="0"/>
                <a:cs typeface="Menlo" panose="020B0609030804020204" pitchFamily="49" charset="0"/>
              </a:rPr>
              <a:t>w.rain_mm</a:t>
            </a:r>
            <a:r>
              <a:rPr lang="en-US" sz="900" b="0" dirty="0">
                <a:effectLst/>
                <a:latin typeface="Menlo" panose="020B0609030804020204" pitchFamily="49" charset="0"/>
                <a:ea typeface="Menlo" panose="020B0609030804020204" pitchFamily="49" charset="0"/>
                <a:cs typeface="Menlo" panose="020B0609030804020204" pitchFamily="49" charset="0"/>
              </a:rPr>
              <a:t>), 2) AS </a:t>
            </a:r>
            <a:r>
              <a:rPr lang="en-US" sz="900" b="0" dirty="0" err="1">
                <a:effectLst/>
                <a:latin typeface="Menlo" panose="020B0609030804020204" pitchFamily="49" charset="0"/>
                <a:ea typeface="Menlo" panose="020B0609030804020204" pitchFamily="49" charset="0"/>
                <a:cs typeface="Menlo" panose="020B0609030804020204" pitchFamily="49" charset="0"/>
              </a:rPr>
              <a:t>total_rain</a:t>
            </a:r>
            <a:endParaRPr lang="en-US" sz="900" b="0" dirty="0">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b="0" dirty="0">
                <a:effectLst/>
                <a:latin typeface="Menlo" panose="020B0609030804020204" pitchFamily="49" charset="0"/>
                <a:ea typeface="Menlo" panose="020B0609030804020204" pitchFamily="49" charset="0"/>
                <a:cs typeface="Menlo" panose="020B0609030804020204" pitchFamily="49" charset="0"/>
              </a:rPr>
              <a:t>FROM weather w</a:t>
            </a:r>
          </a:p>
          <a:p>
            <a:pPr>
              <a:lnSpc>
                <a:spcPts val="1350"/>
              </a:lnSpc>
              <a:buNone/>
            </a:pPr>
            <a:r>
              <a:rPr lang="en-US" sz="900" b="0" dirty="0">
                <a:effectLst/>
                <a:latin typeface="Menlo" panose="020B0609030804020204" pitchFamily="49" charset="0"/>
                <a:ea typeface="Menlo" panose="020B0609030804020204" pitchFamily="49" charset="0"/>
                <a:cs typeface="Menlo" panose="020B0609030804020204" pitchFamily="49" charset="0"/>
              </a:rPr>
              <a:t>JOIN cities c ON </a:t>
            </a:r>
            <a:r>
              <a:rPr lang="en-US" sz="900" b="0" dirty="0" err="1">
                <a:effectLst/>
                <a:latin typeface="Menlo" panose="020B0609030804020204" pitchFamily="49" charset="0"/>
                <a:ea typeface="Menlo" panose="020B0609030804020204" pitchFamily="49" charset="0"/>
                <a:cs typeface="Menlo" panose="020B0609030804020204" pitchFamily="49" charset="0"/>
              </a:rPr>
              <a:t>c.city_id</a:t>
            </a:r>
            <a:r>
              <a:rPr lang="en-US" sz="900" b="0" dirty="0">
                <a:effectLst/>
                <a:latin typeface="Menlo" panose="020B0609030804020204" pitchFamily="49" charset="0"/>
                <a:ea typeface="Menlo" panose="020B0609030804020204" pitchFamily="49" charset="0"/>
                <a:cs typeface="Menlo" panose="020B0609030804020204" pitchFamily="49" charset="0"/>
              </a:rPr>
              <a:t> = </a:t>
            </a:r>
            <a:r>
              <a:rPr lang="en-US" sz="900" b="0" dirty="0" err="1">
                <a:effectLst/>
                <a:latin typeface="Menlo" panose="020B0609030804020204" pitchFamily="49" charset="0"/>
                <a:ea typeface="Menlo" panose="020B0609030804020204" pitchFamily="49" charset="0"/>
                <a:cs typeface="Menlo" panose="020B0609030804020204" pitchFamily="49" charset="0"/>
              </a:rPr>
              <a:t>w.city_id</a:t>
            </a:r>
            <a:endParaRPr lang="en-US" sz="900" b="0" dirty="0">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b="0" dirty="0">
                <a:effectLst/>
                <a:latin typeface="Menlo" panose="020B0609030804020204" pitchFamily="49" charset="0"/>
                <a:ea typeface="Menlo" panose="020B0609030804020204" pitchFamily="49" charset="0"/>
                <a:cs typeface="Menlo" panose="020B0609030804020204" pitchFamily="49" charset="0"/>
              </a:rPr>
              <a:t>GROUP BY </a:t>
            </a:r>
            <a:r>
              <a:rPr lang="en-US" sz="900" b="0" dirty="0" err="1">
                <a:effectLst/>
                <a:latin typeface="Menlo" panose="020B0609030804020204" pitchFamily="49" charset="0"/>
                <a:ea typeface="Menlo" panose="020B0609030804020204" pitchFamily="49" charset="0"/>
                <a:cs typeface="Menlo" panose="020B0609030804020204" pitchFamily="49" charset="0"/>
              </a:rPr>
              <a:t>c.name</a:t>
            </a:r>
            <a:endParaRPr lang="en-US" sz="900" b="0" dirty="0">
              <a:effectLst/>
              <a:latin typeface="Menlo" panose="020B0609030804020204" pitchFamily="49" charset="0"/>
              <a:ea typeface="Menlo" panose="020B0609030804020204" pitchFamily="49" charset="0"/>
              <a:cs typeface="Menlo" panose="020B0609030804020204" pitchFamily="49" charset="0"/>
            </a:endParaRPr>
          </a:p>
          <a:p>
            <a:pPr>
              <a:lnSpc>
                <a:spcPts val="1350"/>
              </a:lnSpc>
              <a:buNone/>
            </a:pPr>
            <a:r>
              <a:rPr lang="en-US" sz="900" b="0" dirty="0">
                <a:effectLst/>
                <a:latin typeface="Menlo" panose="020B0609030804020204" pitchFamily="49" charset="0"/>
                <a:ea typeface="Menlo" panose="020B0609030804020204" pitchFamily="49" charset="0"/>
                <a:cs typeface="Menlo" panose="020B0609030804020204" pitchFamily="49" charset="0"/>
              </a:rPr>
              <a:t>ORDER BY </a:t>
            </a:r>
            <a:r>
              <a:rPr lang="en-US" sz="900" b="0" dirty="0" err="1">
                <a:effectLst/>
                <a:latin typeface="Menlo" panose="020B0609030804020204" pitchFamily="49" charset="0"/>
                <a:ea typeface="Menlo" panose="020B0609030804020204" pitchFamily="49" charset="0"/>
                <a:cs typeface="Menlo" panose="020B0609030804020204" pitchFamily="49" charset="0"/>
              </a:rPr>
              <a:t>average_rain</a:t>
            </a:r>
            <a:r>
              <a:rPr lang="en-US" sz="900" b="0" dirty="0">
                <a:effectLst/>
                <a:latin typeface="Menlo" panose="020B0609030804020204" pitchFamily="49" charset="0"/>
                <a:ea typeface="Menlo" panose="020B0609030804020204" pitchFamily="49" charset="0"/>
                <a:cs typeface="Menlo" panose="020B0609030804020204" pitchFamily="49" charset="0"/>
              </a:rPr>
              <a:t> DESC;</a:t>
            </a:r>
          </a:p>
          <a:p>
            <a:pPr>
              <a:lnSpc>
                <a:spcPts val="1350"/>
              </a:lnSpc>
              <a:buNone/>
            </a:pPr>
            <a:br>
              <a:rPr lang="en-US" sz="900" b="0" dirty="0">
                <a:effectLst/>
                <a:latin typeface="Menlo" panose="020B0609030804020204" pitchFamily="49" charset="0"/>
              </a:rPr>
            </a:br>
            <a:br>
              <a:rPr lang="en-US" sz="900" b="0" dirty="0">
                <a:effectLst/>
                <a:latin typeface="Menlo" panose="020B0609030804020204" pitchFamily="49" charset="0"/>
              </a:rPr>
            </a:br>
            <a:endParaRPr lang="en-US" sz="900" b="0" dirty="0">
              <a:effectLst/>
              <a:latin typeface="Menlo" panose="020B0609030804020204" pitchFamily="49" charset="0"/>
            </a:endParaRPr>
          </a:p>
          <a:p>
            <a:pPr>
              <a:lnSpc>
                <a:spcPts val="1350"/>
              </a:lnSpc>
              <a:buNone/>
            </a:pPr>
            <a:br>
              <a:rPr lang="en-US" sz="900" b="0" dirty="0">
                <a:solidFill>
                  <a:srgbClr val="CCCCCC"/>
                </a:solidFill>
                <a:effectLst/>
                <a:latin typeface="Menlo" panose="020B0609030804020204" pitchFamily="49" charset="0"/>
              </a:rPr>
            </a:b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sp>
        <p:nvSpPr>
          <p:cNvPr id="13" name="TextBox 12">
            <a:extLst>
              <a:ext uri="{FF2B5EF4-FFF2-40B4-BE49-F238E27FC236}">
                <a16:creationId xmlns:a16="http://schemas.microsoft.com/office/drawing/2014/main" id="{D2EC69EA-0D01-5F18-3DC9-BEB0508BD37F}"/>
              </a:ext>
            </a:extLst>
          </p:cNvPr>
          <p:cNvSpPr txBox="1"/>
          <p:nvPr/>
        </p:nvSpPr>
        <p:spPr>
          <a:xfrm>
            <a:off x="3917950" y="2246980"/>
            <a:ext cx="10909300" cy="3842655"/>
          </a:xfrm>
          <a:prstGeom prst="rect">
            <a:avLst/>
          </a:prstGeom>
          <a:noFill/>
        </p:spPr>
        <p:txBody>
          <a:bodyPr wrap="square">
            <a:spAutoFit/>
          </a:bodyPr>
          <a:lstStyle/>
          <a:p>
            <a:pPr>
              <a:lnSpc>
                <a:spcPts val="1350"/>
              </a:lnSpc>
              <a:buNone/>
            </a:pPr>
            <a:r>
              <a:rPr lang="en-US" sz="900" b="1" dirty="0">
                <a:effectLst/>
                <a:latin typeface="Menlo" panose="020B0609030804020204" pitchFamily="49" charset="0"/>
              </a:rPr>
              <a:t>-- Query 3: Total monthly precipitation by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month,</a:t>
            </a:r>
          </a:p>
          <a:p>
            <a:pPr>
              <a:lnSpc>
                <a:spcPts val="1350"/>
              </a:lnSpc>
              <a:buNone/>
            </a:pPr>
            <a:r>
              <a:rPr lang="en-US" sz="900" b="0" dirty="0">
                <a:effectLst/>
                <a:latin typeface="Menlo" panose="020B0609030804020204" pitchFamily="49" charset="0"/>
              </a:rPr>
              <a:t>ROUND(SUM(</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total_rain</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COUNT(*) AS </a:t>
            </a:r>
            <a:r>
              <a:rPr lang="en-US" sz="900" b="0" dirty="0" err="1">
                <a:effectLst/>
                <a:latin typeface="Menlo" panose="020B0609030804020204" pitchFamily="49" charset="0"/>
              </a:rPr>
              <a:t>days_in_month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c.name</a:t>
            </a:r>
            <a:r>
              <a:rPr lang="en-US" sz="900" b="0" dirty="0">
                <a:effectLst/>
                <a:latin typeface="Menlo" panose="020B0609030804020204" pitchFamily="49" charset="0"/>
              </a:rPr>
              <a:t>, month;</a:t>
            </a:r>
          </a:p>
          <a:p>
            <a:pPr>
              <a:lnSpc>
                <a:spcPts val="1350"/>
              </a:lnSpc>
              <a:buNone/>
            </a:pPr>
            <a:br>
              <a:rPr lang="en-US" sz="900" b="1" dirty="0">
                <a:solidFill>
                  <a:srgbClr val="CCCCCC"/>
                </a:solidFill>
                <a:effectLst/>
                <a:latin typeface="Menlo" panose="020B0609030804020204" pitchFamily="49" charset="0"/>
              </a:rPr>
            </a:br>
            <a:r>
              <a:rPr lang="en-US" sz="900" b="1" dirty="0">
                <a:effectLst/>
                <a:latin typeface="Menlo" panose="020B0609030804020204" pitchFamily="49" charset="0"/>
              </a:rPr>
              <a:t>-- Query 4: Windiest week of the year per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a:t>
            </a:r>
            <a:r>
              <a:rPr lang="en-US" sz="900" b="0" dirty="0" err="1">
                <a:effectLst/>
                <a:latin typeface="Menlo" panose="020B0609030804020204" pitchFamily="49" charset="0"/>
              </a:rPr>
              <a:t>week_start</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ROUND(MAX(</a:t>
            </a:r>
            <a:r>
              <a:rPr lang="en-US" sz="900" b="0" dirty="0" err="1">
                <a:effectLst/>
                <a:latin typeface="Menlo" panose="020B0609030804020204" pitchFamily="49" charset="0"/>
              </a:rPr>
              <a:t>w.wind_speed_max_kmh</a:t>
            </a:r>
            <a:r>
              <a:rPr lang="en-US" sz="900" b="0" dirty="0">
                <a:effectLst/>
                <a:latin typeface="Menlo" panose="020B0609030804020204" pitchFamily="49" charset="0"/>
              </a:rPr>
              <a:t>), 2) AS </a:t>
            </a:r>
            <a:r>
              <a:rPr lang="en-US" sz="900" b="0" dirty="0" err="1">
                <a:effectLst/>
                <a:latin typeface="Menlo" panose="020B0609030804020204" pitchFamily="49" charset="0"/>
              </a:rPr>
              <a:t>peak_wind_kmh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peak_wind_kmh</a:t>
            </a:r>
            <a:r>
              <a:rPr lang="en-US" sz="900" b="0" dirty="0">
                <a:effectLst/>
                <a:latin typeface="Menlo" panose="020B0609030804020204" pitchFamily="49" charset="0"/>
              </a:rPr>
              <a:t> DESC</a:t>
            </a:r>
          </a:p>
          <a:p>
            <a:pPr>
              <a:lnSpc>
                <a:spcPts val="1350"/>
              </a:lnSpc>
              <a:buNone/>
            </a:pPr>
            <a:r>
              <a:rPr lang="en-US" sz="900" b="0" dirty="0">
                <a:effectLst/>
                <a:latin typeface="Menlo" panose="020B0609030804020204" pitchFamily="49" charset="0"/>
              </a:rPr>
              <a:t>LIMIT 5;</a:t>
            </a:r>
          </a:p>
        </p:txBody>
      </p:sp>
      <p:sp>
        <p:nvSpPr>
          <p:cNvPr id="15" name="TextBox 14">
            <a:extLst>
              <a:ext uri="{FF2B5EF4-FFF2-40B4-BE49-F238E27FC236}">
                <a16:creationId xmlns:a16="http://schemas.microsoft.com/office/drawing/2014/main" id="{3C4DDFB0-86BA-1295-3A48-ABF76FF06A4A}"/>
              </a:ext>
            </a:extLst>
          </p:cNvPr>
          <p:cNvSpPr txBox="1"/>
          <p:nvPr/>
        </p:nvSpPr>
        <p:spPr>
          <a:xfrm>
            <a:off x="7756276" y="2246980"/>
            <a:ext cx="4194587" cy="3481531"/>
          </a:xfrm>
          <a:prstGeom prst="rect">
            <a:avLst/>
          </a:prstGeom>
          <a:noFill/>
        </p:spPr>
        <p:txBody>
          <a:bodyPr wrap="square">
            <a:spAutoFit/>
          </a:bodyPr>
          <a:lstStyle/>
          <a:p>
            <a:r>
              <a:rPr lang="en-US" sz="900" b="1" dirty="0">
                <a:latin typeface="Menlo" panose="020B0609030804020204" pitchFamily="49" charset="0"/>
                <a:ea typeface="Menlo" panose="020B0609030804020204" pitchFamily="49" charset="0"/>
                <a:cs typeface="Menlo" panose="020B0609030804020204" pitchFamily="49" charset="0"/>
              </a:rPr>
              <a:t>-- Query 5: Determine frequency of extreme heat days (max temp &gt;= 86°C)</a:t>
            </a:r>
          </a:p>
          <a:p>
            <a:r>
              <a:rPr lang="en-US" sz="900" dirty="0">
                <a:latin typeface="Menlo" panose="020B0609030804020204" pitchFamily="49" charset="0"/>
                <a:ea typeface="Menlo" panose="020B0609030804020204" pitchFamily="49" charset="0"/>
                <a:cs typeface="Menlo" panose="020B0609030804020204" pitchFamily="49" charset="0"/>
              </a:rPr>
              <a:t>\echo '--------------- Query 5: Frequency of extreme heat (max temp &gt;= 86°C) ---------------\n'</a:t>
            </a:r>
          </a:p>
          <a:p>
            <a:r>
              <a:rPr lang="en-US" sz="900" dirty="0">
                <a:latin typeface="Menlo" panose="020B0609030804020204" pitchFamily="49" charset="0"/>
                <a:ea typeface="Menlo" panose="020B0609030804020204" pitchFamily="49" charset="0"/>
                <a:cs typeface="Menlo" panose="020B0609030804020204" pitchFamily="49" charset="0"/>
              </a:rPr>
              <a:t>\echo ''</a:t>
            </a:r>
          </a:p>
          <a:p>
            <a:r>
              <a:rPr lang="en-US" sz="900" dirty="0">
                <a:latin typeface="Menlo" panose="020B0609030804020204" pitchFamily="49" charset="0"/>
                <a:ea typeface="Menlo" panose="020B0609030804020204" pitchFamily="49" charset="0"/>
                <a:cs typeface="Menlo" panose="020B0609030804020204" pitchFamily="49" charset="0"/>
              </a:rPr>
              <a:t>SELECT</a:t>
            </a:r>
          </a:p>
          <a:p>
            <a:r>
              <a:rPr lang="en-US" sz="900" dirty="0" err="1">
                <a:latin typeface="Menlo" panose="020B0609030804020204" pitchFamily="49" charset="0"/>
                <a:ea typeface="Menlo" panose="020B0609030804020204" pitchFamily="49" charset="0"/>
                <a:cs typeface="Menlo" panose="020B0609030804020204" pitchFamily="49" charset="0"/>
              </a:rPr>
              <a:t>c.name</a:t>
            </a:r>
            <a:r>
              <a:rPr lang="en-US" sz="900" dirty="0">
                <a:latin typeface="Menlo" panose="020B0609030804020204" pitchFamily="49" charset="0"/>
                <a:ea typeface="Menlo" panose="020B0609030804020204" pitchFamily="49" charset="0"/>
                <a:cs typeface="Menlo" panose="020B0609030804020204" pitchFamily="49" charset="0"/>
              </a:rPr>
              <a:t> AS city,</a:t>
            </a:r>
          </a:p>
          <a:p>
            <a:r>
              <a:rPr lang="en-US" sz="900" dirty="0">
                <a:latin typeface="Menlo" panose="020B0609030804020204" pitchFamily="49" charset="0"/>
                <a:ea typeface="Menlo" panose="020B0609030804020204" pitchFamily="49" charset="0"/>
                <a:cs typeface="Menlo" panose="020B0609030804020204" pitchFamily="49" charset="0"/>
              </a:rPr>
              <a:t>COUNT(*) FILTER (WHERE </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&gt;= 30) AS </a:t>
            </a:r>
            <a:r>
              <a:rPr lang="en-US" sz="900" dirty="0" err="1">
                <a:latin typeface="Menlo" panose="020B0609030804020204" pitchFamily="49" charset="0"/>
                <a:ea typeface="Menlo" panose="020B0609030804020204" pitchFamily="49" charset="0"/>
                <a:cs typeface="Menlo" panose="020B0609030804020204" pitchFamily="49" charset="0"/>
              </a:rPr>
              <a:t>hot_days</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COUNT(*) AS </a:t>
            </a:r>
            <a:r>
              <a:rPr lang="en-US" sz="900" dirty="0" err="1">
                <a:latin typeface="Menlo" panose="020B0609030804020204" pitchFamily="49" charset="0"/>
                <a:ea typeface="Menlo" panose="020B0609030804020204" pitchFamily="49" charset="0"/>
                <a:cs typeface="Menlo" panose="020B0609030804020204" pitchFamily="49" charset="0"/>
              </a:rPr>
              <a:t>total_days</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ROUND(</a:t>
            </a:r>
          </a:p>
          <a:p>
            <a:r>
              <a:rPr lang="en-US" sz="900" dirty="0">
                <a:latin typeface="Menlo" panose="020B0609030804020204" pitchFamily="49" charset="0"/>
                <a:ea typeface="Menlo" panose="020B0609030804020204" pitchFamily="49" charset="0"/>
                <a:cs typeface="Menlo" panose="020B0609030804020204" pitchFamily="49" charset="0"/>
              </a:rPr>
              <a:t>100.0 * COUNT(*) FILTER (WHERE </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&gt;= 30) / COUNT(*),</a:t>
            </a:r>
          </a:p>
          <a:p>
            <a:r>
              <a:rPr lang="en-US" sz="900" dirty="0">
                <a:latin typeface="Menlo" panose="020B0609030804020204" pitchFamily="49" charset="0"/>
                <a:ea typeface="Menlo" panose="020B0609030804020204" pitchFamily="49" charset="0"/>
                <a:cs typeface="Menlo" panose="020B0609030804020204" pitchFamily="49" charset="0"/>
              </a:rPr>
              <a:t>1</a:t>
            </a:r>
          </a:p>
          <a:p>
            <a:r>
              <a:rPr lang="en-US" sz="900" dirty="0">
                <a:latin typeface="Menlo" panose="020B0609030804020204" pitchFamily="49" charset="0"/>
                <a:ea typeface="Menlo" panose="020B0609030804020204" pitchFamily="49" charset="0"/>
                <a:cs typeface="Menlo" panose="020B0609030804020204" pitchFamily="49" charset="0"/>
              </a:rPr>
              <a:t>) AS "Percentage of hot days"</a:t>
            </a:r>
          </a:p>
          <a:p>
            <a:br>
              <a:rPr lang="en-US" sz="900" dirty="0">
                <a:latin typeface="Menlo" panose="020B0609030804020204" pitchFamily="49" charset="0"/>
                <a:ea typeface="Menlo" panose="020B0609030804020204" pitchFamily="49" charset="0"/>
                <a:cs typeface="Menlo" panose="020B0609030804020204" pitchFamily="49" charset="0"/>
              </a:rPr>
            </a:b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FROM weather w</a:t>
            </a:r>
          </a:p>
          <a:p>
            <a:r>
              <a:rPr lang="en-US" sz="900" dirty="0">
                <a:latin typeface="Menlo" panose="020B0609030804020204" pitchFamily="49" charset="0"/>
                <a:ea typeface="Menlo" panose="020B0609030804020204" pitchFamily="49" charset="0"/>
                <a:cs typeface="Menlo" panose="020B0609030804020204" pitchFamily="49" charset="0"/>
              </a:rPr>
              <a:t>JOIN cities c ON </a:t>
            </a:r>
            <a:r>
              <a:rPr lang="en-US" sz="900" dirty="0" err="1">
                <a:latin typeface="Menlo" panose="020B0609030804020204" pitchFamily="49" charset="0"/>
                <a:ea typeface="Menlo" panose="020B0609030804020204" pitchFamily="49" charset="0"/>
                <a:cs typeface="Menlo" panose="020B0609030804020204" pitchFamily="49" charset="0"/>
              </a:rPr>
              <a:t>c.city_id</a:t>
            </a:r>
            <a:r>
              <a:rPr lang="en-US" sz="900" dirty="0">
                <a:latin typeface="Menlo" panose="020B0609030804020204" pitchFamily="49" charset="0"/>
                <a:ea typeface="Menlo" panose="020B0609030804020204" pitchFamily="49" charset="0"/>
                <a:cs typeface="Menlo" panose="020B0609030804020204" pitchFamily="49" charset="0"/>
              </a:rPr>
              <a:t> = </a:t>
            </a:r>
            <a:r>
              <a:rPr lang="en-US" sz="900" dirty="0" err="1">
                <a:latin typeface="Menlo" panose="020B0609030804020204" pitchFamily="49" charset="0"/>
                <a:ea typeface="Menlo" panose="020B0609030804020204" pitchFamily="49" charset="0"/>
                <a:cs typeface="Menlo" panose="020B0609030804020204" pitchFamily="49" charset="0"/>
              </a:rPr>
              <a:t>w.city_id</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GROUP BY </a:t>
            </a:r>
            <a:r>
              <a:rPr lang="en-US" sz="900" dirty="0" err="1">
                <a:latin typeface="Menlo" panose="020B0609030804020204" pitchFamily="49" charset="0"/>
                <a:ea typeface="Menlo" panose="020B0609030804020204" pitchFamily="49" charset="0"/>
                <a:cs typeface="Menlo" panose="020B0609030804020204" pitchFamily="49" charset="0"/>
              </a:rPr>
              <a:t>c.name</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ORDER BY </a:t>
            </a:r>
            <a:r>
              <a:rPr lang="en-US" sz="900" dirty="0" err="1">
                <a:latin typeface="Menlo" panose="020B0609030804020204" pitchFamily="49" charset="0"/>
                <a:ea typeface="Menlo" panose="020B0609030804020204" pitchFamily="49" charset="0"/>
                <a:cs typeface="Menlo" panose="020B0609030804020204" pitchFamily="49" charset="0"/>
              </a:rPr>
              <a:t>hot_days</a:t>
            </a:r>
            <a:r>
              <a:rPr lang="en-US" sz="900" dirty="0">
                <a:latin typeface="Menlo" panose="020B0609030804020204" pitchFamily="49" charset="0"/>
                <a:ea typeface="Menlo" panose="020B0609030804020204" pitchFamily="49" charset="0"/>
                <a:cs typeface="Menlo" panose="020B0609030804020204" pitchFamily="49" charset="0"/>
              </a:rPr>
              <a:t> DESC;</a:t>
            </a:r>
          </a:p>
          <a:p>
            <a:br>
              <a:rPr lang="en-US" sz="900" dirty="0">
                <a:latin typeface="Menlo" panose="020B0609030804020204" pitchFamily="49" charset="0"/>
                <a:ea typeface="Menlo" panose="020B0609030804020204" pitchFamily="49" charset="0"/>
                <a:cs typeface="Menlo" panose="020B0609030804020204" pitchFamily="49" charset="0"/>
              </a:rPr>
            </a:br>
            <a:endParaRPr lang="en-US" sz="900" dirty="0">
              <a:latin typeface="Menlo" panose="020B0609030804020204" pitchFamily="49" charset="0"/>
              <a:ea typeface="Menlo" panose="020B0609030804020204" pitchFamily="49" charset="0"/>
              <a:cs typeface="Menlo" panose="020B0609030804020204" pitchFamily="49" charset="0"/>
            </a:endParaRPr>
          </a:p>
          <a:p>
            <a:pPr>
              <a:lnSpc>
                <a:spcPts val="1350"/>
              </a:lnSpc>
              <a:buNone/>
            </a:pPr>
            <a:br>
              <a:rPr lang="en-US" sz="900" b="0" dirty="0">
                <a:effectLst/>
                <a:latin typeface="Menlo" panose="020B0609030804020204" pitchFamily="49" charset="0"/>
                <a:ea typeface="Menlo" panose="020B0609030804020204" pitchFamily="49" charset="0"/>
                <a:cs typeface="Menlo" panose="020B0609030804020204" pitchFamily="49" charset="0"/>
              </a:rPr>
            </a:br>
            <a:endParaRPr lang="en-US" sz="900" dirty="0">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21957461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398</TotalTime>
  <Words>989</Words>
  <Application>Microsoft Macintosh PowerPoint</Application>
  <PresentationFormat>Widescreen</PresentationFormat>
  <Paragraphs>96</Paragraphs>
  <Slides>4</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vt:i4>
      </vt:variant>
    </vt:vector>
  </HeadingPairs>
  <TitlesOfParts>
    <vt:vector size="13" baseType="lpstr">
      <vt:lpstr>Aptos</vt:lpstr>
      <vt:lpstr>Aptos Display</vt:lpstr>
      <vt:lpstr>Arial</vt:lpstr>
      <vt:lpstr>Avenir Book</vt:lpstr>
      <vt:lpstr>Baloo 2</vt:lpstr>
      <vt:lpstr>Calibri</vt:lpstr>
      <vt:lpstr>Menlo</vt:lpstr>
      <vt:lpstr>Monaco</vt:lpstr>
      <vt:lpstr>Office Theme</vt:lpstr>
      <vt:lpstr>Weather Analytics Platform</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Kyle Drewes</dc:creator>
  <cp:lastModifiedBy>Kyle Drewes</cp:lastModifiedBy>
  <cp:revision>28</cp:revision>
  <dcterms:created xsi:type="dcterms:W3CDTF">2026-07-10T01:23:12Z</dcterms:created>
  <dcterms:modified xsi:type="dcterms:W3CDTF">2026-07-10T17:21:08Z</dcterms:modified>
</cp:coreProperties>
</file>